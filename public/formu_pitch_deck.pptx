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411480" cy="4114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Pretendard"/>
              </a:defRPr>
            </a:pPr>
            <a: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603504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Pretendard"/>
              </a:defRPr>
            </a:pPr>
            <a:r>
              <a:t>Formu (포뮤)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03504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B2B REGTECH OS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F172A"/>
                </a:solidFill>
                <a:latin typeface="Pretendard"/>
              </a:defRPr>
            </a:pPr>
            <a:r>
              <a:t>소수점 하나 틀려</a:t>
            </a:r>
          </a:p>
          <a:p>
            <a:pPr>
              <a:defRPr sz="3800" b="1">
                <a:solidFill>
                  <a:srgbClr val="0F172A"/>
                </a:solidFill>
                <a:latin typeface="Pretendard"/>
              </a:defRPr>
            </a:pPr>
            <a:r>
              <a:t>단상자 3,000장</a:t>
            </a:r>
          </a:p>
          <a:p>
            <a:pPr>
              <a:defRPr sz="3800" b="1">
                <a:solidFill>
                  <a:srgbClr val="1E60F2"/>
                </a:solidFill>
                <a:latin typeface="Pretendard"/>
              </a:defRPr>
            </a:pPr>
            <a:r>
              <a:t>전량 폐기하기 전에.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6583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34155"/>
                </a:solidFill>
                <a:latin typeface="Pretendard"/>
              </a:defRPr>
            </a:pPr>
            <a:r>
              <a:t>배합표 한 장을 법적 출시 가능한 완제품으로 변환하는</a:t>
            </a:r>
            <a:br/>
            <a:r>
              <a:t>화학·화장품 규제 자동화 및 파트너 오케스트레이션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657600" cy="10515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901952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60F2"/>
                </a:solidFill>
                <a:latin typeface="Pretendard"/>
              </a:defRPr>
            </a:pPr>
            <a:r>
              <a:t>3,000장 ➔ 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  <a:latin typeface="Pretendard"/>
              </a:defRPr>
            </a:pPr>
            <a:r>
              <a:t>소수점 오타 단상자 전량 폐기 손실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971800"/>
            <a:ext cx="3657600" cy="10515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136392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60F2"/>
                </a:solidFill>
                <a:latin typeface="Pretendard"/>
              </a:defRPr>
            </a:pPr>
            <a:r>
              <a:t>2개월 ➔ 1초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5661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  <a:latin typeface="Pretendard"/>
              </a:defRPr>
            </a:pPr>
            <a:r>
              <a:t>식약처·환경부 2개 부처 서식 분기 완성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206240"/>
            <a:ext cx="3657600" cy="10515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4370831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60F2"/>
                </a:solidFill>
                <a:latin typeface="Pretendard"/>
              </a:defRPr>
            </a:pPr>
            <a:r>
              <a:t>21,000+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800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  <a:latin typeface="Pretendard"/>
              </a:defRPr>
            </a:pPr>
            <a:r>
              <a:t>식약처 공공 원료 화이트리스트 DB 연동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Pretendard"/>
              </a:defRPr>
            </a:pPr>
            <a:r>
              <a:t>모두의 창업 2기 예비창업자 트랙 (일반/기술분야)  |  대표자: Matilda C.  |  2026.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01 · 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왜 지금 필요한가 — 시장은 2배, 출시는 여전히 복잡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향수·디퓨저·방향제 브랜드는 폭증했지만, 규제 출시 과정은 여전히 파편화된 수작업 그대로입니다.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식품의약품안전처 화장품 생산통계 &amp; KEITI 생활화학제품 안전관리 이행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960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7548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화장품 책임판매업자 수</a:t>
            </a:r>
          </a:p>
          <a:p>
            <a:pPr>
              <a:defRPr sz="1500" b="1">
                <a:solidFill>
                  <a:srgbClr val="1E60F2"/>
                </a:solidFill>
              </a:defRPr>
            </a:pPr>
            <a:r>
              <a:t>15,707  ➔  31,524명 (5년 만에 2배 폭증)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5120640" cy="960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7548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연간 신규 등록 (2025년 기준)</a:t>
            </a:r>
          </a:p>
          <a:p>
            <a:pPr>
              <a:defRPr sz="1500" b="1">
                <a:solidFill>
                  <a:srgbClr val="1E60F2"/>
                </a:solidFill>
              </a:defRPr>
            </a:pPr>
            <a:r>
              <a:t>4,071곳 신규 유입 (+57% 폭증)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5120640" cy="960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국내 화장품 브랜드 수 (추정)</a:t>
            </a:r>
          </a:p>
          <a:p>
            <a:pPr>
              <a:defRPr sz="1500" b="1">
                <a:solidFill>
                  <a:srgbClr val="1E60F2"/>
                </a:solidFill>
              </a:defRPr>
            </a:pPr>
            <a:r>
              <a:t>3만개+ (영세 인디 브랜드 비중 85%+)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212080" cy="31546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28800"/>
            <a:ext cx="4754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[1개 제품 출시에 필요한 규제 절차]</a:t>
            </a:r>
          </a:p>
          <a:p>
            <a:pPr>
              <a:defRPr sz="1150" b="1">
                <a:solidFill>
                  <a:srgbClr val="1E60F2"/>
                </a:solidFill>
              </a:defRPr>
            </a:pPr>
            <a:r>
              <a:t>시험검사 ➔ 적합확인 ➔ 30일 내 신고 ➔ 25일 내 발급 (유효기간 3년)</a:t>
            </a:r>
          </a:p>
          <a:p>
            <a:br/>
            <a:pPr>
              <a:defRPr sz="1050">
                <a:solidFill>
                  <a:srgbClr val="334155"/>
                </a:solidFill>
              </a:defRPr>
            </a:pPr>
            <a:r>
              <a:t>[안전확인대상 품목] 14분류 43개 품목 (디퓨저, 캔들, 룸스프레이 전 품목)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[지정 시험검사기관] KCL · KTC · KATRI · KTR · FITI · KOTITI (택1)</a:t>
            </a:r>
          </a:p>
          <a:p>
            <a:br/>
            <a:pPr>
              <a:defRPr sz="1100" b="1">
                <a:solidFill>
                  <a:srgbClr val="D92D20"/>
                </a:solidFill>
              </a:defRPr>
            </a:pPr>
            <a:r>
              <a:t>[대행 수수료 (시험비 실비 별도)] 건당 22만 원+ (기본 15만 + 신고 7만)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83480"/>
            <a:ext cx="10698480" cy="114300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브랜드는 매년 4,000곳 넘게 생겨나는데, 제품 하나 출시할 때마다 5~6개 주체를 직접 조율해야 합니다.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원료사 · 시험기관 · 신고대행 · 디자이너 · 인쇄소 — 각각 따로 문의하고 서류를 수동으로 정리하는 비효율이 Formu의 출발점입니다.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02 · PROBLEM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소규모 브랜드를 무너뜨리는 3대 규제 리스크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단순한 서류 작업의 번거로움을 넘어, 사업 존속을 위협하는 법적·금전적 타격으로 이어집니다.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화장품법 제10조(화장품의 기재사항) 및 화학제품안전법 제10조(안전기준의 적합확인)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60F2"/>
                </a:solidFill>
              </a:defRPr>
            </a:pPr>
            <a:r>
              <a:t>01</a:t>
            </a:r>
          </a:p>
          <a:p>
            <a:pPr>
              <a:defRPr sz="950" b="1">
                <a:solidFill>
                  <a:srgbClr val="D92D20"/>
                </a:solidFill>
              </a:defRPr>
            </a:pPr>
            <a:r>
              <a:t>식약처 화장품법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알레르기 25/26종</a:t>
            </a:r>
            <a:br/>
            <a:r>
              <a:t>표시 위반 폐기 리스크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오일 내 알레르기 유발성분(0.001% 초과)을 엑셀로 수기 계산하다 소수점 오타 하나로 단상자 3,000장 전량 폐기 및 300만 원 벌금 처분 발생.</a:t>
            </a:r>
          </a:p>
          <a:p>
            <a:br/>
            <a:pPr>
              <a:defRPr sz="1000" b="1">
                <a:solidFill>
                  <a:srgbClr val="D92D20"/>
                </a:solidFill>
              </a:defRPr>
            </a:pPr>
            <a:r>
              <a:t>위험: 단상자 전량 폐기 &amp; 과태료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01168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60F2"/>
                </a:solidFill>
              </a:defRPr>
            </a:pPr>
            <a:r>
              <a:t>02</a:t>
            </a:r>
          </a:p>
          <a:p>
            <a:pPr>
              <a:defRPr sz="950" b="1">
                <a:solidFill>
                  <a:srgbClr val="D92D20"/>
                </a:solidFill>
              </a:defRPr>
            </a:pPr>
            <a:r>
              <a:t>환경부 생활화학제품법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CHEMP 배합비율표</a:t>
            </a:r>
            <a:br/>
            <a:r>
              <a:t>수기 엑셀 지옥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신제품 출시마다 화학물질 CAS 번호를 일일이 구글링해 100% 비율표 작성(건당 4~8시간). CAS 오기재나 미신고 유통 시 최대 3년 징역 또는 3천만 원 벌금.</a:t>
            </a:r>
          </a:p>
          <a:p>
            <a:br/>
            <a:pPr>
              <a:defRPr sz="1000" b="1">
                <a:solidFill>
                  <a:srgbClr val="D92D20"/>
                </a:solidFill>
              </a:defRPr>
            </a:pPr>
            <a:r>
              <a:t>위험: 최대 3년 징역 / 3천만 원 벌금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201168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60F2"/>
                </a:solidFill>
              </a:defRPr>
            </a:pPr>
            <a:r>
              <a:t>03</a:t>
            </a:r>
          </a:p>
          <a:p>
            <a:pPr>
              <a:defRPr sz="950" b="1">
                <a:solidFill>
                  <a:srgbClr val="D92D20"/>
                </a:solidFill>
              </a:defRPr>
            </a:pPr>
            <a:r>
              <a:t>부처 이원화 이중고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향수는 식약처, 디퓨저는 환경부</a:t>
            </a:r>
            <a:br/>
            <a:r>
              <a:t>이중 규제 장벽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1인 브랜드가 2개 부처의 서로 다른 법령과 서식을 개별 학습·대응. 오프라인 대행은 건당 100만원+으로 영세 브랜드는 접근조차 불가능.</a:t>
            </a:r>
          </a:p>
          <a:p>
            <a:br/>
            <a:pPr>
              <a:defRPr sz="1000" b="1">
                <a:solidFill>
                  <a:srgbClr val="D92D20"/>
                </a:solidFill>
              </a:defRPr>
            </a:pPr>
            <a:r>
              <a:t>손실: 신제품 출시 2개월 지연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03 · CORE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Before / After — 접점을 5개에서 1개로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고객이 직접 조율하던 5~6개 주체를 Formu 단 하나의 화면으로 통합합니다.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핵심 혁신: 파편화된 오프라인 다자간 소통을 단일 인터페이스 SaaS로 제품화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4754880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4754880" cy="457200"/>
          </a:xfrm>
          <a:prstGeom prst="roundRect">
            <a:avLst/>
          </a:prstGeom>
          <a:solidFill>
            <a:srgbClr val="8C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Before — 고객이 직접 5~6개 주체 조율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331720"/>
            <a:ext cx="420624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377440"/>
            <a:ext cx="4023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원료사  ➔  MSDS · IFRA 성적서 요청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98648"/>
            <a:ext cx="420624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944368"/>
            <a:ext cx="4023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시험기관 (6곳 중 택1)  ➔  견적 · 시료 택배 · 성적서 개별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465576"/>
            <a:ext cx="420624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511296"/>
            <a:ext cx="4023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신고대행사  ➔  서류 수동 재정리 외주 소통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032504"/>
            <a:ext cx="420624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078224"/>
            <a:ext cx="4023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디자이너  ➔  규제 라벨 문구 따로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4599431"/>
            <a:ext cx="420624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45152"/>
            <a:ext cx="4023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인쇄소  ➔  폰트·필수 기재 규격 또 조율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4389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92D20"/>
                </a:solidFill>
              </a:defRPr>
            </a:pPr>
            <a:r>
              <a:t>접점 5~6개 · 서류 중복 정리 · 진행 상태 분산</a:t>
            </a:r>
            <a:br/>
            <a:r>
              <a:t>각 주체가 다른 양식 사용 ➔ CAS 누락 시 신고 반려 사이클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356616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60F2"/>
                </a:solidFill>
              </a:defRPr>
            </a:pPr>
            <a:r>
              <a:t>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737360"/>
            <a:ext cx="4754880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75120" y="1737360"/>
            <a:ext cx="475488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After — Formu (포뮤) 단일 화면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2423160"/>
            <a:ext cx="4206240" cy="566928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2487168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60F2"/>
                </a:solidFill>
              </a:defRPr>
            </a:pPr>
            <a:r>
              <a:t>1. 배합표 1회 업로드</a:t>
            </a:r>
          </a:p>
          <a:p>
            <a:pPr>
              <a:defRPr sz="950">
                <a:solidFill>
                  <a:srgbClr val="1E60F2"/>
                </a:solidFill>
              </a:defRPr>
            </a:pPr>
            <a:r>
              <a:t>XLSX · CSV · PDF + MSDS 즉시 인식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108960"/>
            <a:ext cx="4206240" cy="566928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3172968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60F2"/>
                </a:solidFill>
              </a:defRPr>
            </a:pPr>
            <a:r>
              <a:t>2. 4개 산출물 자동 생성</a:t>
            </a:r>
          </a:p>
          <a:p>
            <a:pPr>
              <a:defRPr sz="950">
                <a:solidFill>
                  <a:srgbClr val="1E60F2"/>
                </a:solidFill>
              </a:defRPr>
            </a:pPr>
            <a:r>
              <a:t>신고용 엑셀 · 라벨 문구 · 검토표 · 인쇄 PDF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3794760"/>
            <a:ext cx="4206240" cy="566928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3858768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60F2"/>
                </a:solidFill>
              </a:defRPr>
            </a:pPr>
            <a:r>
              <a:t>3. 5개 파트너 연결</a:t>
            </a:r>
          </a:p>
          <a:p>
            <a:pPr>
              <a:defRPr sz="950">
                <a:solidFill>
                  <a:srgbClr val="1E60F2"/>
                </a:solidFill>
              </a:defRPr>
            </a:pPr>
            <a:r>
              <a:t>전문가 · 공인시험원 · 신고 · 디자인 · 인쇄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4480560"/>
            <a:ext cx="4206240" cy="566928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4544568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4. 1개 진행 보드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상태 · 승인 · 버전 이력을 한 화면에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57800"/>
            <a:ext cx="4389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접점 1개 · 1초 자동 정리 · 진행 상황 한눈에</a:t>
            </a:r>
            <a:br/>
            <a:r>
              <a:t>알고리즘이 누락을 먼저 탐지 ➔ 반려 사이클 사전 차단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04 · PROPRIETARY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업로드 1초 만에 완성되는 규제 자동화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원료 이름만 검색하면 2.1만 공공 DB 매핑부터 부처별 서식 분기 출력까지 1초 만에 처리합니다.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삼쩜삼·로톡 판례 기반 Self-Serve 규제 연산 소프트웨어 (행정사법 위반 소지 원천 차단)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[화이트리스트 DB] 2.1만 공공 DB 자동 매핑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CAS 번호를 몰라도 원료명 검색 즉시 알레르기 25/26종 해당 여부와 법정 배합한도를 1:1 매칭하여 사용자 데이터 입력 장벽을 원천 제거.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9184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[원스톱 분기] 단일 배합표로 2개 부처 서식 완성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식약처 단상자 라벨 문구(0.001% 초과)와 환경부 CHEMP 100% 화학 배합비율표(.xlsx)를 1초 만에 자동 분기 렌더링.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512064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70916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[실비 절감] 중복 시험비 20~30만 원 절감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정부 고시 면제 요건을 자동 계산하여 불필요한 시험원 재검사를 방지하고, 검증 완료 도안을 인쇄소로 다이렉트 전송.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212080" cy="50292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FORMU REGULATION ENGINE · REAL-TIME AUDIT (PASS)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423160"/>
            <a:ext cx="46634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514600"/>
            <a:ext cx="438912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INPUT FORMULA DATA</a:t>
            </a:r>
          </a:p>
          <a:p>
            <a:pPr>
              <a:defRPr sz="950">
                <a:solidFill>
                  <a:srgbClr val="334155"/>
                </a:solidFill>
                <a:latin typeface="Consolas"/>
              </a:defRPr>
            </a:pPr>
            <a:r>
              <a:t>• 라벤더 오일 (CAS 8000-28-0): 12.50%</a:t>
            </a:r>
            <a:br/>
            <a:r>
              <a:t>• 리날룰 (Linalool, CAS 78-70-6): 2.40%</a:t>
            </a:r>
            <a:br/>
            <a:r>
              <a:t>• 리모넨 (Limonene, CAS 5989-27-5): 0.80%</a:t>
            </a:r>
            <a:br/>
            <a:r>
              <a:t>• 발효주정 에탄올 (CAS 64-17-5): 84.30%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023360"/>
            <a:ext cx="4663440" cy="91440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114800"/>
            <a:ext cx="4389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1E60F2"/>
                </a:solidFill>
              </a:defRPr>
            </a:pPr>
            <a:r>
              <a:t>식약처 알레르기 25/26종 판정 결과</a:t>
            </a:r>
          </a:p>
          <a:p>
            <a:pPr>
              <a:defRPr sz="950">
                <a:solidFill>
                  <a:srgbClr val="D92D20"/>
                </a:solidFill>
              </a:defRPr>
            </a:pPr>
            <a:r>
              <a:t>➔ 리날룰 2.40%, 리모넨 0.80% (0.001% 초과 검출 ➔ 라벨 표기 필수 추출)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5074920"/>
            <a:ext cx="466344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5166360"/>
            <a:ext cx="4389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환경부 CHEMP 안전기준 배합비율표 (.xlsx)</a:t>
            </a:r>
          </a:p>
          <a:p>
            <a:pPr>
              <a:defRPr sz="950">
                <a:solidFill>
                  <a:srgbClr val="039855"/>
                </a:solidFill>
              </a:defRPr>
            </a:pPr>
            <a:r>
              <a:t>➔ CAS 번호 기준 100% 비율 정합성 검증 완료 · 서식 1초 엑셀 다운로드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05 ·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연 5.8조 원 K-화장품·향기 시장과 4,000개 인디 브랜드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제조 OEM/ODM 대중화로 1인 브랜드 진입은 늘었으나, 규제 행정 장벽은 심화되었습니다.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식약처 2024 화장품 생산통계 &amp; 환경부 생활화학제품 신고 현황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389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E60F2"/>
                </a:solidFill>
              </a:defRPr>
            </a:pPr>
            <a:r>
              <a:t>5.8조 원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TAM (국내 화장품·생활화학제품 총 시장)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01952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TAM · 전체 시장  ➔  5.8조 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국내 화장품 및 안전확인대상 생활화학제품 총 시장 규모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154680"/>
            <a:ext cx="521208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319272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60F2"/>
                </a:solidFill>
              </a:defRPr>
            </a:pPr>
            <a:r>
              <a:t>SAM · 유효 시장  ➔  1,200억 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소규모 화장품·향기 브랜드 연간 인허가/규제 행정 지출 시장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572000"/>
            <a:ext cx="521208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736592"/>
            <a:ext cx="466344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39855"/>
                </a:solidFill>
              </a:defRPr>
            </a:pPr>
            <a:r>
              <a:t>SOM · 초기 타깃  ➔  48억 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국내 1인 인디 향수·디퓨저 브랜드 4,000개사 초기 선점 목표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06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건당 과금과 파트너 오케스트레이션의 고마진 수익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진입 장벽 없는 건당 과금(SaaS)으로 고객을 획득하고, 패키지 인쇄와 행정사 연결로 LTV를 극대화합니다.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Unit Economics: 건당 원가 1,200원 (서버/API) ➔ 건당 순공헌이익 17,800원 (84%+)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347472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PRIMARY · SAAS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건당 19,000원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[규제 서식 자동 연산 결제]</a:t>
            </a:r>
            <a:br/>
            <a:r>
              <a:t>배합표 업로드 1초 연산 및 식약처 라벨·CHEMP 엑셀 다운로드 시 건당 과금.</a:t>
            </a:r>
          </a:p>
          <a:p>
            <a:br/>
            <a:pPr>
              <a:defRPr sz="1000" b="1">
                <a:solidFill>
                  <a:srgbClr val="039855"/>
                </a:solidFill>
              </a:defRPr>
            </a:pPr>
            <a:r>
              <a:t>영업마진율 90%+ (순수 소프트웨어)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34747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PARTNER · PRINT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주문액의 10~15%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[단상자·라벨 인쇄 연계 수수료]</a:t>
            </a:r>
            <a:br/>
            <a:r>
              <a:t>검증 완료 도안을 제휴 패키지 인쇄소로 원클릭 발주 연계 시 발생하는 중개 수수료.</a:t>
            </a:r>
          </a:p>
          <a:p>
            <a:br/>
            <a:pPr>
              <a:defRPr sz="1000" b="1">
                <a:solidFill>
                  <a:srgbClr val="039855"/>
                </a:solidFill>
              </a:defRPr>
            </a:pPr>
            <a:r>
              <a:t>인쇄 1회당 20~40만 원 수수료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34747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EXPERT · LEGAL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건당 소개료 10%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[제휴 공인 행정사 연결]</a:t>
            </a:r>
            <a:br/>
            <a:r>
              <a:t>수출용 인허가, 복합 제형 등 전문 행정사의 정밀 검토가 필요한 건을 법적 안전하게 중개.</a:t>
            </a:r>
          </a:p>
          <a:p>
            <a:br/>
            <a:pPr>
              <a:defRPr sz="1000" b="1">
                <a:solidFill>
                  <a:srgbClr val="039855"/>
                </a:solidFill>
              </a:defRPr>
            </a:pPr>
            <a:r>
              <a:t>복잡 건 1회당 5~10만 원 리퍼럴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698480" cy="77724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[투명성 원칙] 공인시험기관(KTR, KCL 등) 협력: 공익기관 회계규정에 따라 시험기관으로부터는 일체의 수수료를 받지 않으며, 시료 접수 및 전자 성적서 API 연동 파트너로만 협력합니다.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07 · SERVICE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MVP 및 90일 실행계획 &amp;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AI-assisted concierge ➔ 반복 업무 제품화 ➔ SaaS 구독 전환으로 7~10주 차 첫 매출을 창출합니다.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사업 구상 시각화 · 수수료·책임 배분·검산 범위는 정책 및 계약 검증 전 · 기관명은 예시이며 제휴 확정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4747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1~4주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AI 문서 자동화 MVP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947672"/>
            <a:ext cx="2743200" cy="50292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8424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파트너 3~5곳 수동 섭외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5~8주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첫 고객 무료/할인 런칭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24912"/>
            <a:ext cx="2743200" cy="50292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76148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사례 · 검증 데이터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60F2"/>
                </a:solidFill>
              </a:defRPr>
            </a:pPr>
            <a:r>
              <a:t>7~10주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유료 패키지 상품화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3502152"/>
            <a:ext cx="2743200" cy="502920"/>
          </a:xfrm>
          <a:prstGeom prst="roundRect">
            <a:avLst/>
          </a:prstGeom>
          <a:solidFill>
            <a:srgbClr val="ECF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3538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39855"/>
                </a:solidFill>
              </a:defRPr>
            </a:pPr>
            <a:r>
              <a:t>★ 첫 매출 달성 (유료 진단)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10~12주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반복 케이스 규칙화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279392"/>
            <a:ext cx="2468880" cy="50292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4315968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SaaS 구독 전환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4924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235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확장 로드맵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7440" y="5486400"/>
            <a:ext cx="1920240" cy="5943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추천 · 연결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5486400"/>
            <a:ext cx="1920240" cy="5943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진행 관리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5486400"/>
            <a:ext cx="1920240" cy="5943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원스톱 패키지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0" y="5486400"/>
            <a:ext cx="1920240" cy="594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Enterprise 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08 · 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3개년 매출 성장 모델과 조기 손익분기점(BEP)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순수 소프트웨어 기반의 고공헌이익률(84%) 구조로 1년 차 조기 손익분기점 돌파가 가능합니다.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formu_financial_model.xlsx (6개 시트 라이브 수식 모델링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3-YEAR REVENUE PROJECTION (단위: 원)</a:t>
            </a:r>
          </a:p>
          <a:p>
            <a:br/>
            <a:pPr>
              <a:defRPr sz="1200" b="1">
                <a:solidFill>
                  <a:srgbClr val="1E60F2"/>
                </a:solidFill>
              </a:defRPr>
            </a:pPr>
            <a:r>
              <a:t>1년 차 (2026) · 4,500건</a:t>
            </a:r>
            <a:br/>
            <a:r>
              <a:t>➔ 85,500,000원</a:t>
            </a:r>
            <a:br/>
            <a:r>
              <a:t>[■■□□□□□□□□]</a:t>
            </a:r>
          </a:p>
          <a:p>
            <a:br/>
            <a:pPr>
              <a:defRPr sz="1200" b="1">
                <a:solidFill>
                  <a:srgbClr val="1E60F2"/>
                </a:solidFill>
              </a:defRPr>
            </a:pPr>
            <a:r>
              <a:t>2년 차 (2027) · 18,000건</a:t>
            </a:r>
            <a:br/>
            <a:r>
              <a:t>➔ 361,000,000원</a:t>
            </a:r>
            <a:br/>
            <a:r>
              <a:t>[■■■■■□□□□□]</a:t>
            </a:r>
          </a:p>
          <a:p>
            <a:br/>
            <a:pPr>
              <a:defRPr sz="1200" b="1">
                <a:solidFill>
                  <a:srgbClr val="0B132B"/>
                </a:solidFill>
              </a:defRPr>
            </a:pPr>
            <a:r>
              <a:t>3년 차 (2028) · 58,000건</a:t>
            </a:r>
            <a:br/>
            <a:r>
              <a:t>➔ 1,280,000,000원</a:t>
            </a:r>
            <a:br/>
            <a:r>
              <a:t>[■■■■■■■■■■]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737360"/>
            <a:ext cx="4754880" cy="205740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월 160건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손익분기점(BEP) 달성 필요 결제량</a:t>
            </a:r>
            <a:br/>
            <a:r>
              <a:t>월 고정비 300만 원 기준, 월 160건(일 5~6건) 시 즉시 흑자 전환 달성.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069080"/>
            <a:ext cx="4754880" cy="205740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425196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39855"/>
                </a:solidFill>
              </a:defRPr>
            </a:pPr>
            <a:r>
              <a:t>84.2%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소프트웨어 순공헌이익률</a:t>
            </a:r>
            <a:br/>
            <a:r>
              <a:t>재고 및 물류 부담이 없는 클라우드 연산 엔진으로 매출 성장이 영업이익으로 직결.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09 · TEAM &amp;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전문 실행 팀 역량 및 지원금 5,000만 원 활용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16년 차 디자인 디렉터와 규제·개발 전문가가 지원금을 DB 파이프라인 고도화에 집중 투입합니다.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실행 보증: 지원 종료 시점까지 유료 전환 고객 300개사 및 월 BEP 초과 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640080" cy="6400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74519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Matilda C. (대표)  ·  Product Director (16년차 UI/UX)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B2B 엔터프라이즈 SaaS 총괄 경력 · 복잡한 규제를 1초 UX로 치환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383280"/>
            <a:ext cx="640080" cy="64008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9184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규제 행정 파트너  ·  공인 행정사 / 규제 자문위원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화학·화장품 인허가 실무 10년+ · 식약처/CHEMP 법정 서식 감수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5120640" cy="128016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800600"/>
            <a:ext cx="640080" cy="640080"/>
          </a:xfrm>
          <a:prstGeom prst="roundRect">
            <a:avLst/>
          </a:prstGeom>
          <a:solidFill>
            <a:srgbClr val="039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7091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소프트웨어 엔지니어  ·  풀스택 아키텍트 (화학공학/컴공)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2.1만 공공 DB 오픈 API 파이프라인 및 고속 연산 엔진 구축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50,000,000원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모두의 창업 2기 사업화 지원금 전액 배분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[01. DB 파이프라인 &amp; 엔진 개발: 2,500만 원 (50%)]</a:t>
            </a:r>
            <a:br/>
            <a:r>
              <a:t>식약처 2.1만 DB API 실시간 동기화 서버 및 CHEMP 엑셀 서식 렌더러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[02. 공방 타깃 퍼포먼스 마케팅: 1,500만 원 (30%)]</a:t>
            </a:r>
            <a:br/>
            <a:r>
              <a:t>향수·디퓨저 공방 커뮤니티 타깃 CAC 최적화 광고 및 가이드북 배포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[03. 특허 출원 및 법률 자문: 1,000만 원 (20%)]</a:t>
            </a:r>
            <a:br/>
            <a:r>
              <a:t>배합표 기반 다부처 규제 서식 자동 분기 BM 특허 출원 1건 및 상표권 등록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10 · 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창작은 당신이, 규제는 포뮤(Formu)가.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수천 장의 단상자를 폐기하고 법령 사이트에서 밤을 새우던 비효율을 끝냅니다.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Formu (포뮤) — 모두의 창업 2기 지원을 마칩니다. 감사합니다.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E60F2"/>
                </a:solidFill>
              </a:defRPr>
            </a:pPr>
            <a:r>
              <a:t>“배합표 한 장으로 끝나는 규제 없는 창작의 시대”</a:t>
            </a:r>
          </a:p>
          <a:p>
            <a:pPr>
              <a:defRPr sz="1300">
                <a:solidFill>
                  <a:srgbClr val="334155"/>
                </a:solidFill>
              </a:defRPr>
            </a:pPr>
            <a:r>
              <a:t>창작자가 복잡한 행정 서류에 에너지를 뺏기지 않고, 오직 향과 제품 본질에만 몰입할 수 있도록 Formu가 모든 규제와 유통 파트너를 원스톱으로 연결합니다.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3328416" cy="2468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01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Zero Error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소수점 오타로 인한 제품 폐기 및 과태료 리스크 0건 달성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3657600"/>
            <a:ext cx="3328416" cy="2468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02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1-Second Speed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2개월 걸리던 규제 인허가 행정을 단 1초의 데이터 연산으로 단축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3657600"/>
            <a:ext cx="3328416" cy="2468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03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Orchestration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배합표 입력부터 시험원 접수, 패키지 인쇄까지 한 화면 연결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