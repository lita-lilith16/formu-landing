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657600" cy="384048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43584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7C3AED"/>
                </a:solidFill>
              </a:defRPr>
            </a:pPr>
            <a:r>
              <a:t>모두의 창업 2기 · 일반/기술 분야 · 예비창업자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943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0F172A"/>
                </a:solidFill>
              </a:defRPr>
            </a:pPr>
            <a:r>
              <a:t>Formu</a:t>
            </a:r>
          </a:p>
          <a:p>
            <a:pPr>
              <a:defRPr sz="2200" b="1">
                <a:solidFill>
                  <a:srgbClr val="3182F6"/>
                </a:solidFill>
              </a:defRPr>
            </a:pPr>
            <a:r>
              <a:t>배합표 한 장을 출시 가능한 제품으로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400">
                <a:solidFill>
                  <a:srgbClr val="475569"/>
                </a:solidFill>
              </a:defRPr>
            </a:pPr>
            <a:r>
              <a:t>1인 디퓨저·방향제 브랜드가 배합표만으로</a:t>
            </a:r>
            <a:br/>
            <a:r>
              <a:t>라벨·신고 입력값을 셀프 점검하는 규제 SaaS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4068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대표자: Matilda C. (16년 차 UI/UX 디렉터)  |  2026.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005840"/>
            <a:ext cx="4480560" cy="4846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0" y="1463040"/>
            <a:ext cx="3749039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6002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182F6"/>
                </a:solidFill>
              </a:defRPr>
            </a:pPr>
            <a:r>
              <a:t>1초 셀프 점검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배합표 업로드 ➔ 규제 서식 &amp; 라벨 자동 정리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34640"/>
            <a:ext cx="3749039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29718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7C3AED"/>
                </a:solidFill>
              </a:defRPr>
            </a:pPr>
            <a:r>
              <a:t>단상자 폐기 손실 ZERO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식약처 26종 알레르기 &amp; CHEMP 100% 매핑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206240"/>
            <a:ext cx="3749039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43434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</a:defRPr>
            </a:pPr>
            <a:r>
              <a:t>1인 브랜드 출시 원스톱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접점 6~7곳 ➔ 배합표 입력 1곳으로 단축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27648"/>
            <a:ext cx="93268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etendard"/>
              </a:defRPr>
            </a:pPr>
            <a:r>
              <a:t>* 첫 MVP: 환경부 생활화학제품(디퓨저·방향제) 신고 준비 ➔ 식약처 화장품(향수·바디미스트) 확장 모듈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3276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2004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✦  01 ·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Pretendard"/>
              </a:defRPr>
            </a:pPr>
            <a:r>
              <a:t>소수점 하나 틀려 단상자 3,000장 전량 폐기하기 전에.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Pretendard"/>
              </a:defRPr>
            </a:pPr>
            <a:r>
              <a:t>1인 브랜드는 제품 개발보다 분산된 6~7곳의 규제 행정 접점에서 먼저 좌절합니다.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93268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etendard"/>
              </a:defRPr>
            </a:pPr>
            <a:r>
              <a:t>* 근거: 화장품·생활화학제품 표시·광고 위반 실태조사, 디퓨저 출시 소요기간 2개월 (출처: attorney0070)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276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02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64592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411480" cy="411480"/>
          </a:xfrm>
          <a:prstGeom prst="round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182F6"/>
                </a:solidFill>
              </a:defRPr>
            </a:pPr>
            <a:r>
              <a:t>시험원 접수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시료 배송 &amp; 2주 대기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1783080"/>
            <a:ext cx="164592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60" y="1920240"/>
            <a:ext cx="411480" cy="411480"/>
          </a:xfrm>
          <a:prstGeom prst="round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192024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4231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182F6"/>
                </a:solidFill>
              </a:defRPr>
            </a:pPr>
            <a:r>
              <a:t>CAS 검색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원료별 수기 대조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783080"/>
            <a:ext cx="164592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34840" y="1920240"/>
            <a:ext cx="411480" cy="411480"/>
          </a:xfrm>
          <a:prstGeom prst="round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92024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4231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182F6"/>
                </a:solidFill>
              </a:defRPr>
            </a:pPr>
            <a:r>
              <a:t>CHEMP 연산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엑셀 100% 수기 계산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59" y="1783080"/>
            <a:ext cx="164592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1920240"/>
            <a:ext cx="411480" cy="411480"/>
          </a:xfrm>
          <a:prstGeom prst="round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92024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4231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182F6"/>
                </a:solidFill>
              </a:defRPr>
            </a:pPr>
            <a:r>
              <a:t>26종 알레르기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성분 함량 수동 필터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1783080"/>
            <a:ext cx="164592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01000" y="1920240"/>
            <a:ext cx="41148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192024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24231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라벨 인쇄 의뢰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단상자 3,000장 인쇄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920" y="1783080"/>
            <a:ext cx="1645920" cy="1920240"/>
          </a:xfrm>
          <a:prstGeom prst="roundRect">
            <a:avLst/>
          </a:prstGeom>
          <a:solidFill>
            <a:srgbClr val="FEF2F2"/>
          </a:solidFill>
          <a:ln w="228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84080" y="1920240"/>
            <a:ext cx="411480" cy="4114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192024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4231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💥 표시 위반 적발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소수점/성분 누락 판정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977639"/>
            <a:ext cx="106984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160520"/>
            <a:ext cx="4114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F4444"/>
                </a:solidFill>
              </a:defRPr>
            </a:pPr>
            <a:r>
              <a:t>단상자 3,000장 전량 폐기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300만~500만 원 매몰 손실 및 출시 2개월 지연</a:t>
            </a:r>
          </a:p>
          <a:p>
            <a:br/>
            <a:pPr>
              <a:defRPr sz="1050">
                <a:solidFill>
                  <a:srgbClr val="475569"/>
                </a:solidFill>
              </a:defRPr>
            </a:pPr>
            <a:r>
              <a:t>알레르기 유발성분 26종 표기를 1개만 누락하거나, CHEMP 배합비 소수점 1자리만 오기재해도 표시 위반으로 행정처분 및 제품 회수 대상이 됩니다.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94960" y="4160520"/>
            <a:ext cx="5760720" cy="50292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0" y="42062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293B"/>
                </a:solidFill>
              </a:defRPr>
            </a:pPr>
            <a:r>
              <a:t>●  접점 6~7곳 분산  ➔  시험원·성분계산·CHEMP·라벨·인쇄 분산으로 1인 창작자 번아웃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0" y="4754880"/>
            <a:ext cx="5760720" cy="50292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0" y="48006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293B"/>
                </a:solidFill>
              </a:defRPr>
            </a:pPr>
            <a:r>
              <a:t>●  부처별 규제 이원화  ➔  디퓨저(환경부) vs 향수(식약처) 법률 이중 공부 부담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94960" y="5349240"/>
            <a:ext cx="5760720" cy="50292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0" y="539495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293B"/>
                </a:solidFill>
              </a:defRPr>
            </a:pPr>
            <a:r>
              <a:t>●  행정사 건별 외주 부담  ➔  건당 15~30만 원 고비용 발생으로 신제품 출시 장벽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2004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✦  02 ·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Pretendard"/>
              </a:defRPr>
            </a:pPr>
            <a:r>
              <a:t>배합표 한 장 업로드 → 신고 서식·라벨 문구 자동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Pretendard"/>
              </a:defRPr>
            </a:pPr>
            <a:r>
              <a:t>서류를 남에게 맡기는 외주가 아닌, 사용자가 직접 손쉽게 신고하도록 돕는 셀프서브(Self-Serve) SaaS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93268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etendard"/>
              </a:defRPr>
            </a:pPr>
            <a:r>
              <a:t>* 핵심 원칙: 법률 리스크 원천 차단 (셀프서브 소프트웨어 구조, 복잡 행정 건만 제휴 행정사 연결)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276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03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51206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BEFORE · 6~7곳으로 쪼개진 수기 외주 파이프라인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423160"/>
            <a:ext cx="4572000" cy="56692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46887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01. 원료 CAS 수기 검색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부처별 규제 성분 수기 대조 (오류 빈번)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081528"/>
            <a:ext cx="4572000" cy="56692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02. 환경부 CHEMP 엑셀 계산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100% 배합비 수기 산출 (합계 불일치)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739896"/>
            <a:ext cx="4572000" cy="56692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85615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03. 식약처 26종 알레르기 계산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향료 성분 수동 확인 (누락 다발)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398264"/>
            <a:ext cx="4572000" cy="56692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4398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04. 행정사 건별 서류 의뢰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건당 15~30만 원 고비용 발생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5056631"/>
            <a:ext cx="4572000" cy="56692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102351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05. 단상자 인쇄 감수 오류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표시기재 위반 적발 시 전량 폐기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783080"/>
            <a:ext cx="5212080" cy="429768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9659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3182F6"/>
                </a:solidFill>
              </a:defRPr>
            </a:pPr>
            <a:r>
              <a:t>AFTER (FORMU) · 단 하나의 배합표 입력 엔진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423160"/>
            <a:ext cx="4663440" cy="566928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46887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182F6"/>
                </a:solidFill>
              </a:defRPr>
            </a:pPr>
            <a:r>
              <a:t>✔ 공공 원료 DB 자동 매핑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식약처 2.1만 DB API 실시간 연동 (CAS 자동 매핑)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081528"/>
            <a:ext cx="4663440" cy="566928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12724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182F6"/>
                </a:solidFill>
              </a:defRPr>
            </a:pPr>
            <a:r>
              <a:t>✔ 환경부 CHEMP 100% 서식 완성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법정 엑셀 양식 단 1초 만에 자동 생성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739896"/>
            <a:ext cx="4663440" cy="566928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785615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✔ 식약처 26종 알레르기 라벨 도출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2024 개정 기준 알레르기 함량 자동 계산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398264"/>
            <a:ext cx="4663440" cy="566928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443984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✔ 안전한 셀프서브 아키텍처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사용자가 직접 확인·신고 (외주 수수료 0원)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5056631"/>
            <a:ext cx="4663440" cy="566928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5102351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✔ 시험기관 &amp; 인쇄 파트너 연계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시료 접수 및 패키지 인쇄 원스톱 연결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2004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✦  03 · 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Pretendard"/>
              </a:defRPr>
            </a:pPr>
            <a:r>
              <a:t>화장품 책임판매업자 5년 2배 급증과 연 17억 개 생활화학제품 시장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Pretendard"/>
              </a:defRPr>
            </a:pPr>
            <a:r>
              <a:t>화장품보다 진입이 빠르고 규제가 엄격한 생활화학제품(디퓨저·방향제)으로 첫 시장을 선점합니다.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93268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etendard"/>
              </a:defRPr>
            </a:pPr>
            <a:r>
              <a:t>* 출처: 조선일보 (화장품 책임판매업자 5년 추이), 기후에너지환경부 (생활화학제품 제조·수입 통계), KEITI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276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04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화장품 책임판매업자 증가 추이 (5년 만에 2배)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468880"/>
            <a:ext cx="2194560" cy="365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146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2019년 · 15,707곳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880360"/>
            <a:ext cx="2011680" cy="4572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3520440"/>
            <a:ext cx="4389120" cy="36576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66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182F6"/>
                </a:solidFill>
              </a:defRPr>
            </a:pPr>
            <a:r>
              <a:t>2023년 · 31,524곳 (+101% 급증 🚀)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931920"/>
            <a:ext cx="4114800" cy="640080"/>
          </a:xfrm>
          <a:prstGeom prst="round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233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31,524곳 돌파 (조선일보 공식 보도)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754880"/>
            <a:ext cx="4572000" cy="109728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8463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● 1인 인디 뷰티·프래그런스 공방 창업 폭발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2024년 11월까지 신규 창업만 4,600곳 이상 추가 등록되어, 소량 다품종 1인 브랜드의 규제 진입 수요가 최대치에 도달함.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783080"/>
            <a:ext cx="52120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920240"/>
            <a:ext cx="4663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7C3AED"/>
                </a:solidFill>
              </a:defRPr>
            </a:pPr>
            <a:r>
              <a:t>4,600+곳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2024년 신규 창업 등록 브랜드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전국 화장품·향수 브랜드 3만 개 돌파 (인디 공방 중심)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246120"/>
            <a:ext cx="52120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383279"/>
            <a:ext cx="4663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F46E5"/>
                </a:solidFill>
              </a:defRPr>
            </a:pPr>
            <a:r>
              <a:t>연 17억여 개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생활화학제품 연간 유통량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환경부 14분류 43개 품목 (매년 필수 신고 및 성분 검사 대상)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709160"/>
            <a:ext cx="52120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846320"/>
            <a:ext cx="4663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2개월 ➔ 1초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규제 준비 시간 90% 압축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디퓨저·방향제 1개당 2개월 걸리던 복잡 서류를 배합표 1초로 단축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2004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✦  04 ·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Pretendard"/>
              </a:defRPr>
            </a:pPr>
            <a:r>
              <a:t>1인 브랜드 출시 과정에 최적화된 4가지 핵심 차별화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Pretendard"/>
              </a:defRPr>
            </a:pPr>
            <a:r>
              <a:t>서류를 남에게 맡기는 외주 방식이 아니라, 사용자가 직접 손쉽게 검토·신고하는 혁신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93268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etendard"/>
              </a:defRPr>
            </a:pPr>
            <a:r>
              <a:t>* 책임 분리: 원료 매핑 결과는 공공 DB 기반 후보 제시이며 최종 확인은 사용자 책임 원칙 (유사 세무 플랫폼 적법 판례 준용)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276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05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521208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965960"/>
            <a:ext cx="594360" cy="594360"/>
          </a:xfrm>
          <a:prstGeom prst="round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965960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셀프서브 소프트웨어 구조</a:t>
            </a:r>
          </a:p>
          <a:p>
            <a:pPr>
              <a:lnSpc>
                <a:spcPct val="135000"/>
              </a:lnSpc>
              <a:defRPr sz="1100">
                <a:solidFill>
                  <a:srgbClr val="475569"/>
                </a:solidFill>
              </a:defRPr>
            </a:pPr>
            <a:r>
              <a:t>기존의 고비용 서류 대행 의뢰가 아닌, 사용자가 직접 손쉽게 검토·신고하는 SaaS 아키텍처.</a:t>
            </a:r>
            <a:br/>
            <a:r>
              <a:t>(복잡 행정 건만 제휴 행정사 안내)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521208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965960"/>
            <a:ext cx="594360" cy="5943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965960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공공 원료 DB 실시간 매핑</a:t>
            </a:r>
          </a:p>
          <a:p>
            <a:pPr>
              <a:lnSpc>
                <a:spcPct val="135000"/>
              </a:lnSpc>
              <a:defRPr sz="1100">
                <a:solidFill>
                  <a:srgbClr val="475569"/>
                </a:solidFill>
              </a:defRPr>
            </a:pPr>
            <a:r>
              <a:t>식약처 공개 화장품 원료 성분 정보(약 2.1만 건 API) 기반으로 원료명 검색 시 성분 코드·알레르기 유발성분 후보 즉시 제시.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521208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4206240"/>
            <a:ext cx="594360" cy="5943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0624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206240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파생제품 중복시험 사전점검</a:t>
            </a:r>
          </a:p>
          <a:p>
            <a:pPr>
              <a:lnSpc>
                <a:spcPct val="135000"/>
              </a:lnSpc>
              <a:defRPr sz="1100">
                <a:solidFill>
                  <a:srgbClr val="475569"/>
                </a:solidFill>
              </a:defRPr>
            </a:pPr>
            <a:r>
              <a:t>대표제품과 조건이 맞는 파생제품인지 사전 점검하여 불필요한 반복 시험을 줄일 가능성 안내 (환경부 KEITI 매뉴얼 준용).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023360"/>
            <a:ext cx="521208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4206240"/>
            <a:ext cx="59436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206240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1인 공방 특화 원스톱 UX</a:t>
            </a:r>
          </a:p>
          <a:p>
            <a:pPr>
              <a:lnSpc>
                <a:spcPct val="135000"/>
              </a:lnSpc>
              <a:defRPr sz="1100">
                <a:solidFill>
                  <a:srgbClr val="475569"/>
                </a:solidFill>
              </a:defRPr>
            </a:pPr>
            <a:r>
              <a:t>대기업 대상 무거운 엔터프라이즈 ERP가 아닌, 1인 향수·디퓨저 공방의 빠른 소량 다품종 출시에 최적화된 워크플로 제공.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2004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✦  05 · 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Pretendard"/>
              </a:defRPr>
            </a:pPr>
            <a:r>
              <a:t>기존 외주 서비스와 대기업 툴 사이의 명확한 '1인 원스톱 공백'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Pretendard"/>
              </a:defRPr>
            </a:pPr>
            <a:r>
              <a:t>1인 브랜드가 부담 없이 사용할 수 있는 셀프서브 출시 소프트웨어는 현재 시장에 비어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93268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etendard"/>
              </a:defRPr>
            </a:pPr>
            <a:r>
              <a:t>* 경쟁사 가격 조사: 인증쏙(기본 15만/신고 7만/MSDS 10만), 이지케이션(대표 8만/파생 5.5만) 등 공개 단가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276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06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920240"/>
            <a:ext cx="10515600" cy="502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비교 항목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6596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인증쏙 (행정사)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96596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COS247 (씨티케이)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96596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리이치24시코리아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96596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182F6"/>
                </a:solidFill>
              </a:defRPr>
            </a:pPr>
            <a:r>
              <a:t>Formu (포뮤)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514600"/>
            <a:ext cx="2194560" cy="594360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606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1E293B"/>
                </a:solidFill>
              </a:defRPr>
            </a:pPr>
            <a:r>
              <a:t>이용 비용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6060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건당 15~30만 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6060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월 수백만 원대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6060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수천만 원대 용역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6060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3182F6"/>
                </a:solidFill>
              </a:defRPr>
            </a:pPr>
            <a:r>
              <a:t>건당 3만 / 월 3~5만 (90% 절감)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172968"/>
            <a:ext cx="2194560" cy="594360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26440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1E293B"/>
                </a:solidFill>
              </a:defRPr>
            </a:pPr>
            <a:r>
              <a:t>소요 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264408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2주 ~ 3주 대기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264408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1개월 이상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264408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수개월 프로젝트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26440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3182F6"/>
                </a:solidFill>
              </a:defRPr>
            </a:pPr>
            <a:r>
              <a:t>배합표 업로드 단 1초 완성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3831335"/>
            <a:ext cx="2194560" cy="594360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922775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1E293B"/>
                </a:solidFill>
              </a:defRPr>
            </a:pPr>
            <a:r>
              <a:t>작업 방식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3922775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행정사 건별 서류 의뢰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922775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대기업 구축형 SaaS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922775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글로벌 컨설턴트 투입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922775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3182F6"/>
                </a:solidFill>
              </a:defRPr>
            </a:pPr>
            <a:r>
              <a:t>100% 셀프서브 소프트웨어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4489704"/>
            <a:ext cx="2194560" cy="594360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581144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1E293B"/>
                </a:solidFill>
              </a:defRPr>
            </a:pPr>
            <a:r>
              <a:t>1인 공방 특화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581144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❌ (건당 비용 부담)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4581144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❌ (대기업/중견 전용)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581144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❌ (글로벌 다국적 전용)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581144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3182F6"/>
                </a:solidFill>
              </a:defRPr>
            </a:pPr>
            <a:r>
              <a:t>✔ (1인 브랜드 완벽 최적화)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5148072"/>
            <a:ext cx="2194560" cy="594360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23951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1E293B"/>
                </a:solidFill>
              </a:defRPr>
            </a:pPr>
            <a:r>
              <a:t>서식 자동화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5239512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❌ (수작업 서류 작성)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5239512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✔ (화장품 중심)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239512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</a:defRPr>
            </a:pPr>
            <a:r>
              <a:t>❌ (컨설팅 보고서)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523951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3182F6"/>
                </a:solidFill>
              </a:defRPr>
            </a:pPr>
            <a:r>
              <a:t>✔ (CHEMP 엑셀 + 26종 라벨)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2004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✦  06 ·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Pretendard"/>
              </a:defRPr>
            </a:pPr>
            <a:r>
              <a:t>3단계 현실적 수익 모델 (검증 진행 중)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Pretendard"/>
              </a:defRPr>
            </a:pPr>
            <a:r>
              <a:t>3만원대 진단 리포트로 진입 장벽을 낮추고, SaaS 구독 및 인쇄 파트너 수수료로 확장합니다.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93268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etendard"/>
              </a:defRPr>
            </a:pPr>
            <a:r>
              <a:t>* 엄격한 규정 준수: 공인시험기관 중개 수수료 수취 불가 명시 / 행정사 연결 수익은 법령 검토 후 정액 입점료 형태로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276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07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3474720" cy="3337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965960"/>
            <a:ext cx="2560320" cy="320040"/>
          </a:xfrm>
          <a:prstGeom prst="round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STAGE 01 · 초기 (현재~8주)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77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건당 유료 리포트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260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182F6"/>
                </a:solidFill>
              </a:defRPr>
            </a:pPr>
            <a:r>
              <a:t>3만 원대 / 건당  |  Take Rate: 100% (자체 매출)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8328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</a:defRPr>
            </a:pPr>
            <a:r>
              <a:t>배합표 ➔ 환경부 CHEMP 신고 서류 초안 + 식약처 26종 라벨 체크리스트 제공. 저가 진입으로 첫 유료 고객 유치.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783080"/>
            <a:ext cx="3474720" cy="3337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1965960"/>
            <a:ext cx="256032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9659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STAGE 02 · 반복 증가 (8주~6개월)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77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셀프서브 SaaS 구독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9260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C3AED"/>
                </a:solidFill>
              </a:defRPr>
            </a:pPr>
            <a:r>
              <a:t>월 3~5만 원 / 월  |  Take Rate: 100% (정기 구독)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38328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</a:defRPr>
            </a:pPr>
            <a:r>
              <a:t>원료 DB 자동 매핑, 신규 개정 고시 실시간 업데이트, 다수 제품 배합표 보관 및 버전 관리 셀프서브 소프트웨어.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1783080"/>
            <a:ext cx="3474720" cy="3337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83880" y="1965960"/>
            <a:ext cx="256032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19659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STAGE 03 · 파트너 연결 (6개월~)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377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라벨·단상자 인쇄 연결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9260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결제액의 10~15%  |  파트너 수수료 수취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38328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</a:defRPr>
            </a:pPr>
            <a:r>
              <a:t>규제 검증이 끝난 정확한 표시기재 문구로 라벨·단상자 인쇄 파트너 연계. 인쇄 사고 방지 및 파트너 중개 수수료.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182F6"/>
                </a:solidFill>
              </a:defRPr>
            </a:pPr>
            <a:r>
              <a:t>● 수익 모델 법적 안정성 준수 원칙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① 공인시험기관 6곳: 정부 지정 공익기관으로 중개 수수료 수취 불가 ➔ 시료 접수 및 성적서 연동 파트너로만 순수 협력</a:t>
            </a:r>
            <a:br/>
            <a:r>
              <a:t>② 행정사 연결 수익: 행정사법 검토 후 정액 광고료·입점료 등 합법 형태로 설계 예정 (건당 소개료는 가정치이며 현재 '검토 중' 명시)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2004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✦  07 · ROADMAP &amp; KANBAN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Pretendard"/>
              </a:defRPr>
            </a:pPr>
            <a:r>
              <a:t>5단계 사업화 로드맵과 90일 내 첫 유료 매출 목표 (검증 진행 중)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Pretendard"/>
              </a:defRPr>
            </a:pPr>
            <a:r>
              <a:t>무자본·1인 체제로 고객 인터뷰와 리포트 작성을 직접 실행하며, 반복 작업부터 순차 자동화합니다.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93268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etendard"/>
              </a:defRPr>
            </a:pPr>
            <a:r>
              <a:t>* 실행 원칙: 완성된 성과가 아닌 검증 진행 단계 표기, 지표 달성 시 다음 단계로 순차 전환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276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08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20574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783080" cy="320040"/>
          </a:xfrm>
          <a:prstGeom prst="round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STAGE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랜딩 배포 &amp; 사전신청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현재 ~ 2주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108960"/>
            <a:ext cx="1783080" cy="59436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82112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182F6"/>
                </a:solidFill>
              </a:defRPr>
            </a:pPr>
            <a:r>
              <a:t>사전신청 30건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794760"/>
            <a:ext cx="1783080" cy="29260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03904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3182F6"/>
                </a:solidFill>
              </a:defRPr>
            </a:pPr>
            <a:r>
              <a:t>상태: 진행 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06240"/>
            <a:ext cx="1783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475569"/>
                </a:solidFill>
              </a:defRPr>
            </a:pPr>
            <a:r>
              <a:t>랜딩페이지 배포 완료,</a:t>
            </a:r>
            <a:br/>
            <a:r>
              <a:t>방문자 유입 및 신청 추적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9504" y="1783080"/>
            <a:ext cx="20574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026664" y="1920240"/>
            <a:ext cx="178308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26664" y="192024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STAGE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26664" y="233172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고객 심층 인터뷰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2주 ~ 4주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26664" y="3108960"/>
            <a:ext cx="1783080" cy="5943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26664" y="3182112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5~10명 인터뷰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26664" y="3794760"/>
            <a:ext cx="1783080" cy="29260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26664" y="3803904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7C3AED"/>
                </a:solidFill>
              </a:defRPr>
            </a:pPr>
            <a:r>
              <a:t>상태: 예정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6664" y="4206240"/>
            <a:ext cx="1783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475569"/>
                </a:solidFill>
              </a:defRPr>
            </a:pPr>
            <a:r>
              <a:t>1인 브랜드 대표 인터뷰,</a:t>
            </a:r>
            <a:br/>
            <a:r>
              <a:t>핵심 병목 및 지불의사 확인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47488" y="1783080"/>
            <a:ext cx="2057400" cy="4297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84648" y="1920240"/>
            <a:ext cx="1783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84648" y="192024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STAGE 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4648" y="233172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수작업 유료 리포트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4주 ~ 8주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84648" y="3108960"/>
            <a:ext cx="178308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84648" y="3182112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유료 전환 1~3건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84648" y="3794760"/>
            <a:ext cx="1783080" cy="29260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84648" y="3803904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상태: 🚩 90일 첫 매출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4648" y="4206240"/>
            <a:ext cx="1783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475569"/>
                </a:solidFill>
              </a:defRPr>
            </a:pPr>
            <a:r>
              <a:t>3만원대 수작업 서식 리포트,</a:t>
            </a:r>
            <a:br/>
            <a:r>
              <a:t>90일 내 첫 매출 달성 검증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05472" y="1783080"/>
            <a:ext cx="20574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42631" y="1920240"/>
            <a:ext cx="178308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2631" y="192024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STAGE 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42631" y="233172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자동 매핑 MVP 개발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8주 ~ 12주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42631" y="3108960"/>
            <a:ext cx="1783080" cy="5943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42631" y="3182112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반복 자동화율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42631" y="3794760"/>
            <a:ext cx="1783080" cy="29260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42631" y="3803904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상태: 개발 예정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42631" y="4206240"/>
            <a:ext cx="1783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475569"/>
                </a:solidFill>
              </a:defRPr>
            </a:pPr>
            <a:r>
              <a:t>식약처 2.1만 원료 DB 기반</a:t>
            </a:r>
            <a:br/>
            <a:r>
              <a:t>자동 매핑 기능 구현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63456" y="1783080"/>
            <a:ext cx="20574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500616" y="1920240"/>
            <a:ext cx="1783080" cy="32004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0616" y="192024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STAGE 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0616" y="233172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파트너 연결 체계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3개월 ~ 6개월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0616" y="3108960"/>
            <a:ext cx="1783080" cy="5943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0616" y="3182112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파트너 응답률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00616" y="3794760"/>
            <a:ext cx="1783080" cy="29260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0616" y="3803904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상태: 확장 예정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0616" y="4206240"/>
            <a:ext cx="1783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475569"/>
                </a:solidFill>
              </a:defRPr>
            </a:pPr>
            <a:r>
              <a:t>시험기관 접수 연동 및</a:t>
            </a:r>
            <a:br/>
            <a:r>
              <a:t>라벨·인쇄 파트너십 구축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2004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✦  08 · FOUNDER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Pretendard"/>
              </a:defRPr>
            </a:pPr>
            <a:r>
              <a:t>16년 차 UI/UX 전문성과 AI 자동화 실행력으로 1인 완결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Pretendard"/>
              </a:defRPr>
            </a:pPr>
            <a:r>
              <a:t>복잡한 법률 규제를 누구나 쓰는 가장 쉬운 화면으로 전환할 수 있는 디자이너 창업자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93268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etendard"/>
              </a:defRPr>
            </a:pPr>
            <a:r>
              <a:t>* 실행 검증: 노코드·AI 도구 기반 1인 MVP 개발 및 랜딩페이지(formu-landing.onrender.com) 직접 운영 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276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09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3474720" cy="4297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2011680"/>
            <a:ext cx="1645920" cy="320040"/>
          </a:xfrm>
          <a:prstGeom prst="round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CAPABILITY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688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UI/UX 디자인 16년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26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182F6"/>
                </a:solidFill>
              </a:defRPr>
            </a:pPr>
            <a:r>
              <a:t>복잡한 절차를 쉬운 화면으로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832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150">
                <a:solidFill>
                  <a:srgbClr val="475569"/>
                </a:solidFill>
              </a:defRPr>
            </a:pPr>
            <a:r>
              <a:t>16년간 복잡한 IT 시스템과 기업용 프로세스를 사용자가 직관적으로 이해할 수 있는 UI/UX로 전환해온 전문 디렉터 경력.</a:t>
            </a:r>
            <a:br/>
            <a:br/>
            <a:r>
              <a:t>Formu의 핵심 가치인 '어려운 규제를 단 하나의 화면으로'를 외주 없이 직접 설계·구현 가능.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783080"/>
            <a:ext cx="3474720" cy="4297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2011680"/>
            <a:ext cx="164592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0116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CAPABILITY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4688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AI 콘텐츠 제작 &amp; 자동화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926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C3AED"/>
                </a:solidFill>
              </a:defRPr>
            </a:pPr>
            <a:r>
              <a:t>워크플로 직접 구축 경험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3832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150">
                <a:solidFill>
                  <a:srgbClr val="475569"/>
                </a:solidFill>
              </a:defRPr>
            </a:pPr>
            <a:r>
              <a:t>유튜브 채널을 운영하며 최신 AI 이미지·영상·음성 생성 도구를 조합한 콘텐츠 제작 파이프라인을 직접 구축·운용.</a:t>
            </a:r>
            <a:br/>
            <a:br/>
            <a:r>
              <a:t>생성 AI 및 자동화 도구를 실무 비즈니스 워크플로에 적용하는 높은 이해도 보유.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1783080"/>
            <a:ext cx="3474720" cy="4297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83880" y="2011680"/>
            <a:ext cx="164592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20116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CAPABILITY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4688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1인 MVP 개발 &amp; 실행력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926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빠른 검증과 린(Lean) 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3832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150">
                <a:solidFill>
                  <a:srgbClr val="475569"/>
                </a:solidFill>
              </a:defRPr>
            </a:pPr>
            <a:r>
              <a:t>노코드 및 AI 개발 도구를 활용해 Formu 랜딩페이지 배포, 실시간 진단 시뮬레이터 구축을 1인 무자본으로 완결.</a:t>
            </a:r>
            <a:br/>
            <a:br/>
            <a:r>
              <a:t>예비창업자 단계에서 빠르게 가설을 세우고 고객 피드백을 반영하는 실행력 입증.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2004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✦  09 · MENTORING REQUEST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Pretendard"/>
              </a:defRPr>
            </a:pPr>
            <a:r>
              <a:t>모두의 창업 2기 책임멘토를 통한 3대 핵심 과제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Pretendard"/>
              </a:defRPr>
            </a:pPr>
            <a:r>
              <a:t>사업화 지원금 및 전담 멘토단을 통해 법적 책임 경계 검증과 BM 고도화에 집중합니다.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93268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etendard"/>
              </a:defRPr>
            </a:pPr>
            <a:r>
              <a:t>* 희망 멘토기관: 엔슬파트너스(2기 멘토기관, BM·법률·AI 30인 멘토단) / K-Startup 규제 스크리닝 / KISED 법률지원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276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10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3474720" cy="3337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965960"/>
            <a:ext cx="219456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FOCUS 01 · 최우선 과제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77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규제·법무 책임경계 검토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71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</a:defRPr>
            </a:pPr>
            <a:r>
              <a:t>Formu가 서류를 대신 작성·제출해주는 구조가 아니라, 사용자가 직접 신고하도록 돕는 '순수 소프트웨어'로 안전하게 설계되었는지 법률 전문가 최종 검증.</a:t>
            </a:r>
            <a:br/>
            <a:r>
              <a:t>(변호사법·행정사법 적법 경계 확립)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783080"/>
            <a:ext cx="3474720" cy="3337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0" y="1965960"/>
            <a:ext cx="2194560" cy="320040"/>
          </a:xfrm>
          <a:prstGeom prst="round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9659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FOCUS 02 · 비즈니스 모델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77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BM 고도화 및 단위 경제성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971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</a:defRPr>
            </a:pPr>
            <a:r>
              <a:t>초기 건당 3만원대 진단 리포트에서 월 정기 SaaS 구독 및 라벨·인쇄 파트너 수수료로 이어지는 단계별 전환율과 단위 경제성(CAC/LTV) 정밀 설계 및 가격 전략 다듬기.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1783080"/>
            <a:ext cx="3474720" cy="3337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83880" y="1965960"/>
            <a:ext cx="219456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9659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FOCUS 03 · 기술 파이프라인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377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공공데이터 API 자동 매핑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971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</a:defRPr>
            </a:pPr>
            <a:r>
              <a:t>식약처 공개 화장품 원료 정보(약 2.1만 건 오픈 API)와 환경부 CHEMP 배합 규격 데이터를 활용한 자동 매핑 아키텍처 및 파이프라인 구축 기술 조언.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182F6"/>
                </a:solidFill>
              </a:defRPr>
            </a:pPr>
            <a:r>
              <a:t>● 희망 멘토기관 및 지원 연계 계획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① 엔슬파트너스 (2기 멘토기관: BM 고도화, 규제 법률 자문, AI 기술사업화 3대 영역을 한곳에서 통합 지원)</a:t>
            </a:r>
            <a:br/>
            <a:r>
              <a:t>② K-Startup 원스톱 지원센터 규제·인허가 법률 상담 &amp; KISED 공공 법률지원단 연계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474720" cy="32004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02336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✦  10 · THE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Pretendard"/>
              </a:defRPr>
            </a:pPr>
            <a:r>
              <a:t>배합표 한 장을 출시 가능한 제품으로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Pretendard"/>
              </a:defRPr>
            </a:pPr>
            <a:r>
              <a:t>창작자가 서류 때문에 멈추지 않고, 오직 향과 제품의 본질에만 몰입하는 세상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93268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etendard"/>
              </a:defRPr>
            </a:pPr>
            <a:r>
              <a:t>* Formu (포뮤) — 모두의 창업 2기 예비창업자 발표를 마칩니다. 경청해 주셔서 감사합니다.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276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182F6"/>
                </a:solidFill>
                <a:latin typeface="Pretendard"/>
              </a:defRPr>
            </a:pPr>
            <a:r>
              <a:t>11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16459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93C5FD"/>
                </a:solidFill>
              </a:defRPr>
            </a:pPr>
            <a:r>
              <a:t>“창작은 당신이, 규제는 포뮤(Formu)가.”</a:t>
            </a:r>
          </a:p>
          <a:p>
            <a:pPr>
              <a:lnSpc>
                <a:spcPct val="135000"/>
              </a:lnSpc>
              <a:defRPr sz="1250">
                <a:solidFill>
                  <a:srgbClr val="FFFFFF"/>
                </a:solidFill>
              </a:defRPr>
            </a:pPr>
            <a:r>
              <a:t>소수점 하나 때문에 수천 장의 단상자를 폐기하던 막막함을 끝내고,</a:t>
            </a:r>
            <a:br/>
            <a:r>
              <a:t>배합표 입력만으로 법적 신고 서식 완성부터 인쇄 파트너까지 원스톱으로 연결합니다.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11880"/>
            <a:ext cx="3474720" cy="2514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94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182F6"/>
                </a:solidFill>
              </a:defRPr>
            </a:pPr>
            <a:r>
              <a:t>VALUE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폐기 리스크 감소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091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</a:defRPr>
            </a:pPr>
            <a:r>
              <a:t>소수점 오타와 알레르기 성분 누락을 사전 점검하여 수천 장의 단상자 폐기 및 표시 위반 과태료 방지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611880"/>
            <a:ext cx="3474720" cy="2514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794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VALUE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1605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출시 시간 90% 단축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7091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</a:defRPr>
            </a:pPr>
            <a:r>
              <a:t>2개월 걸리던 6~7곳의 분산된 규제 행정을 단 1초의 배합표 데이터 정리로 압축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3611880"/>
            <a:ext cx="3474720" cy="2514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3794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VALUE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41605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원스톱 출시 파트너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7091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</a:defRPr>
            </a:pPr>
            <a:r>
              <a:t>배합표 입력 하나로 환경부 CHEMP 서식 완성, 시험기관 시료 접수, 라벨 인쇄까지 원스톱 연계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