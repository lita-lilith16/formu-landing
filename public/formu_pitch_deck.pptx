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411480" cy="41148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Pretendard"/>
              </a:defRPr>
            </a:pPr>
            <a:r>
              <a:t>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603504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Pretendard"/>
              </a:defRPr>
            </a:pPr>
            <a:r>
              <a:t>Formu (포뮤) · B2B RegTech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03504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E60F2"/>
                </a:solidFill>
                <a:latin typeface="Pretendard"/>
              </a:defRPr>
            </a:pPr>
            <a:r>
              <a:t>모두의 창업 2기 예비창업자 트랙 (일반/기술분야)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</a:defRPr>
            </a:pPr>
            <a:r>
              <a:t>소수점 하나 틀려</a:t>
            </a:r>
          </a:p>
          <a:p>
            <a:pPr>
              <a:defRPr sz="3600" b="1">
                <a:solidFill>
                  <a:srgbClr val="0F172A"/>
                </a:solidFill>
              </a:defRPr>
            </a:pPr>
            <a:r>
              <a:t>단상자 3,000장</a:t>
            </a:r>
          </a:p>
          <a:p>
            <a:pPr>
              <a:defRPr sz="3600" b="1">
                <a:solidFill>
                  <a:srgbClr val="1E60F2"/>
                </a:solidFill>
              </a:defRPr>
            </a:pPr>
            <a:r>
              <a:t>전량 폐기하기 전에.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51960"/>
            <a:ext cx="6400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>
                <a:solidFill>
                  <a:srgbClr val="334155"/>
                </a:solidFill>
              </a:defRPr>
            </a:pPr>
            <a:r>
              <a:t>배합표 한 장을 법적 출시 가능한 완제품으로 변환하는</a:t>
            </a:r>
            <a:br/>
            <a:r>
              <a:t>화학·화장품 규제 자동화 및 파트너 오케스트레이션 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691640"/>
            <a:ext cx="3931920" cy="4023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lass_bot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514600"/>
            <a:ext cx="2011680" cy="20116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772400" y="1874519"/>
            <a:ext cx="3383280" cy="77724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920240"/>
            <a:ext cx="30175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1초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2개 부처 법정 서식 즉시 분기 완성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4709160"/>
            <a:ext cx="3383280" cy="777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4754880"/>
            <a:ext cx="30175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EF4444"/>
                </a:solidFill>
              </a:defRPr>
            </a:pPr>
            <a:r>
              <a:t>0건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소수점 오타 단상자 전량 폐기 손실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대표자: Matilda C. (16년 차 프로덕트 디렉터)  |  2026.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01 · MARKET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시장은 2배 폭증했지만, 출시는 여전히 5~6개 주체 수작업에 갇혀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향수·디퓨저 브랜드는 매년 4,000곳씩 진입하지만, 규제 행정은 20년 전 오프라인 대행 방식 그대로입니다.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근거: 식품의약품안전처 화장품 생산통계 &amp; 환경부 화학제품관리시스템(CHEMP)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02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120640" cy="914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화장품 책임판매업자 수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식약처 공인 등록 기준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783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1E60F2"/>
                </a:solidFill>
              </a:defRPr>
            </a:pPr>
            <a:r>
              <a:t>31,524명</a:t>
            </a:r>
          </a:p>
          <a:p>
            <a:pPr algn="r">
              <a:defRPr sz="950" b="1">
                <a:solidFill>
                  <a:srgbClr val="10B981"/>
                </a:solidFill>
              </a:defRPr>
            </a:pPr>
            <a:r>
              <a:t>+100.7% (5년 만에 2배 폭증)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743200"/>
            <a:ext cx="5120640" cy="914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연간 신규 브랜드 진입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1인 인디 브랜드 폭증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8346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1E60F2"/>
                </a:solidFill>
              </a:defRPr>
            </a:pPr>
            <a:r>
              <a:t>4,071곳 / 연</a:t>
            </a:r>
          </a:p>
          <a:p>
            <a:pPr algn="r">
              <a:defRPr sz="950" b="1">
                <a:solidFill>
                  <a:srgbClr val="10B981"/>
                </a:solidFill>
              </a:defRPr>
            </a:pPr>
            <a:r>
              <a:t>+57% 신규 증가율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94760"/>
            <a:ext cx="5120640" cy="914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8620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국내 화장품·화학 브랜드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소규모 공방/브랜드 중심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8862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1E60F2"/>
                </a:solidFill>
              </a:defRPr>
            </a:pPr>
            <a:r>
              <a:t>30,000+ 개</a:t>
            </a:r>
          </a:p>
          <a:p>
            <a:pPr algn="r">
              <a:defRPr sz="950" b="1">
                <a:solidFill>
                  <a:srgbClr val="10B981"/>
                </a:solidFill>
              </a:defRPr>
            </a:pPr>
            <a:r>
              <a:t>85%+ 영세 인디 브랜드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5212080" cy="30175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7830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[현행 규제 출시 절차] 1개 제품당 4대 필수 허들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240280"/>
            <a:ext cx="109728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304288"/>
            <a:ext cx="1097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E60F2"/>
                </a:solidFill>
              </a:defRPr>
            </a:pPr>
            <a:r>
              <a:t>STEP 01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시험검사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6대 공인기관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16952" y="2240280"/>
            <a:ext cx="109728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16952" y="2304288"/>
            <a:ext cx="1097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E60F2"/>
                </a:solidFill>
              </a:defRPr>
            </a:pPr>
            <a:r>
              <a:t>STEP 02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적합확인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성적서 수령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87384" y="2240280"/>
            <a:ext cx="109728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87384" y="2304288"/>
            <a:ext cx="1097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E60F2"/>
                </a:solidFill>
              </a:defRPr>
            </a:pPr>
            <a:r>
              <a:t>STEP 03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신고접수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30일 내 신청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57816" y="2240280"/>
            <a:ext cx="109728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57816" y="2304288"/>
            <a:ext cx="1097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E60F2"/>
                </a:solidFill>
              </a:defRPr>
            </a:pPr>
            <a:r>
              <a:t>STEP 04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신고증발급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3년 유효기간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3520440"/>
            <a:ext cx="4754880" cy="9144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3584448"/>
            <a:ext cx="44805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F4444"/>
                </a:solidFill>
              </a:defRPr>
            </a:pPr>
            <a:r>
              <a:t>기존 오프라인 행정사 대행 수수료 (시험비 실비 별도)</a:t>
            </a:r>
          </a:p>
          <a:p>
            <a:pPr>
              <a:defRPr sz="1400" b="1">
                <a:solidFill>
                  <a:srgbClr val="EF4444"/>
                </a:solidFill>
              </a:defRPr>
            </a:pPr>
            <a:r>
              <a:t>건당 22만~100만 원+ (소요 기간 2~4주)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892040"/>
            <a:ext cx="10698480" cy="1234440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4983480"/>
            <a:ext cx="10241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브랜드는 매년 4,000곳 넘게 생겨나지만, 제품 하나 출시할 때마다 5~6개 주체를 직접 조율해야 합니다.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원료사 · 시험기관 · 행정사 · 디자이너 · 인쇄소 — 각각 따로 소통하고 종이 서류를 수기로 정리하는 비효율 해소가 Formu의 출발점입니다.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02 · PROBLEM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소규모 브랜드를 무너뜨리는 3대 규제 리스크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단순한 서류 작업의 번거로움을 넘어, 사업 존속을 위협하는 법적·금전적 타격으로 이어집니다.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출처: 화장품법 제10조 및 화학제품안전법 제10조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03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328416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2024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60F2"/>
                </a:solidFill>
              </a:defRPr>
            </a:pPr>
            <a:r>
              <a:t>01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식약처 화장품법</a:t>
            </a:r>
          </a:p>
          <a:p>
            <a:br/>
            <a:pPr>
              <a:defRPr sz="1400" b="1">
                <a:solidFill>
                  <a:srgbClr val="1E60F2"/>
                </a:solidFill>
              </a:defRPr>
            </a:pPr>
            <a:r>
              <a:t>알레르기 25/26종</a:t>
            </a:r>
            <a:br/>
            <a:r>
              <a:t>표시 위반 폐기 리스크</a:t>
            </a:r>
            <a:br/>
          </a:p>
          <a:p>
            <a:pPr>
              <a:defRPr sz="1100">
                <a:solidFill>
                  <a:srgbClr val="334155"/>
                </a:solidFill>
              </a:defRPr>
            </a:pPr>
            <a:r>
              <a:t>오일 내 알레르기 유발성분(0.001% 초과)을 엑셀로 수기 계산하다 소수점 오타 하나로 단상자 3,000장 전량 폐기 및 300만 원 벌금 처분 발생.</a:t>
            </a:r>
          </a:p>
          <a:p>
            <a:br/>
            <a:pPr>
              <a:defRPr sz="1050" b="1">
                <a:solidFill>
                  <a:srgbClr val="EF4444"/>
                </a:solidFill>
              </a:defRPr>
            </a:pPr>
            <a:r>
              <a:t>⚠️ 위험: 단상자 3,000장 폐기 &amp; 과태료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737360"/>
            <a:ext cx="3328416" cy="4389120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192024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0A5FA"/>
                </a:solidFill>
              </a:defRPr>
            </a:pPr>
            <a:r>
              <a:t>02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환경부 화학제품법</a:t>
            </a:r>
          </a:p>
          <a:p>
            <a:br/>
            <a:pPr>
              <a:defRPr sz="1400" b="1">
                <a:solidFill>
                  <a:srgbClr val="FFFFFF"/>
                </a:solidFill>
              </a:defRPr>
            </a:pPr>
            <a:r>
              <a:t>CHEMP 100% 배합비율표</a:t>
            </a:r>
            <a:br/>
            <a:r>
              <a:t>수기 연산 및 오기재 리스크</a:t>
            </a:r>
            <a:br/>
          </a:p>
          <a:p>
            <a:pPr>
              <a:defRPr sz="1100">
                <a:solidFill>
                  <a:srgbClr val="94A3B8"/>
                </a:solidFill>
              </a:defRPr>
            </a:pPr>
            <a:r>
              <a:t>신제품 출시마다 화학물질 CAS 번호를 일일이 구글링해 100% 비율표 작성(건당 4~8시간). CAS 오기재나 미신고 유통 시 최대 3년 징역 또는 3천만 원 벌금.</a:t>
            </a:r>
          </a:p>
          <a:p>
            <a:br/>
            <a:pPr>
              <a:defRPr sz="1050" b="1">
                <a:solidFill>
                  <a:srgbClr val="EF4444"/>
                </a:solidFill>
              </a:defRPr>
            </a:pPr>
            <a:r>
              <a:t>🚨 위험: 최대 3년 징역 / 3천만 원 벌금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737360"/>
            <a:ext cx="3328416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1896" y="192024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60F2"/>
                </a:solidFill>
              </a:defRPr>
            </a:pPr>
            <a:r>
              <a:t>03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부처 이원화 이중고</a:t>
            </a:r>
          </a:p>
          <a:p>
            <a:br/>
            <a:pPr>
              <a:defRPr sz="1400" b="1">
                <a:solidFill>
                  <a:srgbClr val="0F172A"/>
                </a:solidFill>
              </a:defRPr>
            </a:pPr>
            <a:r>
              <a:t>향수는 식약처, 디퓨저는 환경부</a:t>
            </a:r>
            <a:br/>
            <a:r>
              <a:t>이중 규제 행정 장벽</a:t>
            </a:r>
            <a:br/>
          </a:p>
          <a:p>
            <a:pPr>
              <a:defRPr sz="1100">
                <a:solidFill>
                  <a:srgbClr val="334155"/>
                </a:solidFill>
              </a:defRPr>
            </a:pPr>
            <a:r>
              <a:t>1인 브랜드가 2개 부처의 서로 다른 법령과 서식을 개별 학습·대응 불가. 오프라인 대행료는 건당 100만 원 이상으로 영세 브랜드는 접근조차 불가능.</a:t>
            </a:r>
          </a:p>
          <a:p>
            <a:br/>
            <a:pPr>
              <a:defRPr sz="1050" b="1">
                <a:solidFill>
                  <a:srgbClr val="EF4444"/>
                </a:solidFill>
              </a:defRPr>
            </a:pPr>
            <a:r>
              <a:t>⏳ 손실: 신제품 출시 2개월 지연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03 · CORE 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Before / After — 접점을 5개에서 1개로, 출시 시간을 2주에서 1초로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고객이 직접 조율하던 5~6개 주체를 Formu 단 하나의 화면으로 완전 통합합니다.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핵심 혁신: 파편화된 오프라인 다자간 소통을 단일 인터페이스 SaaS로 제품화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04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0698480" cy="3108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2011680"/>
            <a:ext cx="2377440" cy="237744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94560"/>
            <a:ext cx="2377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F4444"/>
                </a:solidFill>
              </a:defRPr>
            </a:pPr>
            <a:r>
              <a:t>AS - IS</a:t>
            </a:r>
          </a:p>
          <a:p>
            <a:pPr algn="ctr">
              <a:defRPr sz="3800" b="1">
                <a:solidFill>
                  <a:srgbClr val="0F172A"/>
                </a:solidFill>
              </a:defRPr>
            </a:pPr>
            <a:r>
              <a:t>5개</a:t>
            </a:r>
          </a:p>
          <a:p>
            <a:pPr algn="ctr">
              <a:defRPr sz="900" b="1">
                <a:solidFill>
                  <a:srgbClr val="64748B"/>
                </a:solidFill>
              </a:defRPr>
            </a:pPr>
            <a:r>
              <a:t>직접 소통 주체</a:t>
            </a:r>
            <a:br/>
            <a:r>
              <a:t>(2~4주 · 22만~100만 원)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66160" y="2834640"/>
            <a:ext cx="3108960" cy="731520"/>
          </a:xfrm>
          <a:prstGeom prst="rightArrow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97180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접점 5개 ➔ 1개</a:t>
            </a:r>
            <a:br/>
            <a:r>
              <a:t>소요시간 98% 절감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0" y="1920240"/>
            <a:ext cx="2560320" cy="2560320"/>
          </a:xfrm>
          <a:prstGeom prst="ellipse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21488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50" b="1">
                <a:solidFill>
                  <a:srgbClr val="BAE6FD"/>
                </a:solidFill>
              </a:defRPr>
            </a:pPr>
            <a:r>
              <a:t>TO - BE</a:t>
            </a:r>
          </a:p>
          <a:p>
            <a:pPr algn="ctr">
              <a:defRPr sz="4400" b="1">
                <a:solidFill>
                  <a:srgbClr val="FFFFFF"/>
                </a:solidFill>
              </a:defRPr>
            </a:pPr>
            <a:r>
              <a:t>1개</a:t>
            </a:r>
          </a:p>
          <a:p>
            <a:pPr algn="ctr">
              <a:defRPr sz="1000" b="1">
                <a:solidFill>
                  <a:srgbClr val="FFFFFF"/>
                </a:solidFill>
              </a:defRPr>
            </a:pPr>
            <a:r>
              <a:t>Formu 단일 통합 화면</a:t>
            </a:r>
            <a:br/>
            <a:r>
              <a:t>(1초 완성 · 1.9만 원)</a:t>
            </a:r>
          </a:p>
        </p:txBody>
      </p:sp>
      <p:pic>
        <p:nvPicPr>
          <p:cNvPr id="15" name="Picture 14" descr="glass_growt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2011680"/>
            <a:ext cx="1645920" cy="1645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0" y="3749039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 b="1">
                <a:solidFill>
                  <a:srgbClr val="1E60F2"/>
                </a:solidFill>
              </a:defRPr>
            </a:pPr>
            <a:r>
              <a:t>+98% 공정 시간 단축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937760"/>
            <a:ext cx="52120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983480"/>
            <a:ext cx="4846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334155"/>
                </a:solidFill>
              </a:defRPr>
            </a:pPr>
            <a:r>
              <a:t>✕ 원료사: MSDS · IFRA 분석 성적서 개별 요청 및 누락 빈발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✕ 시험기관 (6곳 택1): 견적서 비교, 시료 택배 발송, 종이 성적서 수령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✕ 행정사 &amp; 인쇄소: 서식 재작성 소통, 폰트/표기 오류로 인한 인쇄 재작업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937760"/>
            <a:ext cx="5212080" cy="1188720"/>
          </a:xfrm>
          <a:prstGeom prst="roundRect">
            <a:avLst/>
          </a:prstGeom>
          <a:solidFill>
            <a:srgbClr val="EEF4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983480"/>
            <a:ext cx="4846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✓ 배합표 1회 업로드: XLSX · CSV · PDF 즉시 인식 및 CAS 자동 매핑</a:t>
            </a:r>
          </a:p>
          <a:p>
            <a:pPr>
              <a:defRPr sz="1050" b="1">
                <a:solidFill>
                  <a:srgbClr val="1E60F2"/>
                </a:solidFill>
              </a:defRPr>
            </a:pPr>
            <a:r>
              <a:t>✓ 4대 산출물 1초 생성: 신고용 엑셀 · 라벨 문구 · 검토표 · 인쇄용 도안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✓ 5개 파트너 원스톱: 공인시험원 시료 접수 연동 &amp; 제휴 패키지 인쇄 1클릭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04 · PROPRIETARY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배합표 업로드 1초 만에 완성되는 규제 자동화 엔진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원료 이름만 검색하면 2.1만 공공 DB 매핑부터 부처별 서식 분기 출력까지 1초 만에 연산합니다.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삼쩜삼·로톡 판례 기반 Self-Serve 규제 연산 소프트웨어 (행정사법 위반 소지 원천 차단)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05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120640" cy="2103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737360"/>
            <a:ext cx="5120640" cy="45720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830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FFFFFF"/>
                </a:solidFill>
              </a:defRPr>
            </a:pPr>
            <a:r>
              <a:t>[1] 화이트리스트 DB 2.1만 건 자동 매핑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8600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</a:defRPr>
            </a:pPr>
            <a:r>
              <a:t>• 식약처 2.1만 공공 DB 실시간 동기화로 CAS 번호 자동 매칭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원료명 검색 즉시 알레르기 25/26종 해당 여부 및 법정 배합한도 1:1 판정</a:t>
            </a:r>
          </a:p>
          <a:p>
            <a:pPr>
              <a:defRPr sz="1100" b="1">
                <a:solidFill>
                  <a:srgbClr val="1E60F2"/>
                </a:solidFill>
              </a:defRPr>
            </a:pPr>
            <a:r>
              <a:t>• 비전문가도 오기재 없이 10초 만에 완벽한 배합비율 검증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4023360"/>
            <a:ext cx="5120640" cy="45720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FFFFFF"/>
                </a:solidFill>
              </a:defRPr>
            </a:pPr>
            <a:r>
              <a:t>[2] 단일 배합표로 2개 부처 서식 1초 분기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7200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</a:defRPr>
            </a:pPr>
            <a:r>
              <a:t>• [식약처] 단상자 필수 기재 라벨 문구 (0.001% 초과 성분 자동 추출)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[환경부] CHEMP 안전확인대상 100% 화학 배합비율표 (.xlsx) 렌더링</a:t>
            </a:r>
          </a:p>
          <a:p>
            <a:pPr>
              <a:defRPr sz="1100" b="1">
                <a:solidFill>
                  <a:srgbClr val="10B981"/>
                </a:solidFill>
              </a:defRPr>
            </a:pPr>
            <a:r>
              <a:t>• 면제 기준 자동 판정으로 불필요한 시험비 20~30만 원 즉시 절감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1737360"/>
            <a:ext cx="5212080" cy="457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78308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FORMU_REGULATION_ENGINE · REAL-TIME AUDIT: 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331720"/>
            <a:ext cx="4663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4A3B8"/>
                </a:solidFill>
              </a:defRPr>
            </a:pPr>
            <a:r>
              <a:t>[INPUT FORMULA DATA]</a:t>
            </a:r>
          </a:p>
          <a:p>
            <a:pPr>
              <a:defRPr sz="1000">
                <a:solidFill>
                  <a:srgbClr val="FFFFFF"/>
                </a:solidFill>
                <a:latin typeface="Consolas"/>
              </a:defRPr>
            </a:pPr>
            <a:r>
              <a:t>• 라벤더 오일 (CAS 8000-28-0): 12.50%</a:t>
            </a:r>
            <a:br/>
            <a:r>
              <a:t>• 리날룰 (Linalool, CAS 78-70-6): 2.40%</a:t>
            </a:r>
            <a:br/>
            <a:r>
              <a:t>• 리모넨 (Limonene, CAS 5989-27-5): 0.80%</a:t>
            </a:r>
            <a:br/>
            <a:r>
              <a:t>• 발효주정 에탄올 (CAS 64-17-5): 84.30%</a:t>
            </a:r>
          </a:p>
          <a:p>
            <a:br/>
            <a:pPr>
              <a:defRPr sz="1050" b="1">
                <a:solidFill>
                  <a:srgbClr val="60A5FA"/>
                </a:solidFill>
              </a:defRPr>
            </a:pPr>
            <a:r>
              <a:t>[식약처 알레르기 25/26종 판정 결과]</a:t>
            </a:r>
            <a:br/>
            <a:r>
              <a:t>➔ 리날룰 2.40%, 리모넨 0.80% (0.001% 초과 검출 ➔ 라벨 표기 의무 추출)</a:t>
            </a:r>
          </a:p>
          <a:p>
            <a:br/>
            <a:pPr>
              <a:defRPr sz="1050" b="1">
                <a:solidFill>
                  <a:srgbClr val="34D399"/>
                </a:solidFill>
              </a:defRPr>
            </a:pPr>
            <a:r>
              <a:t>[환경부 CHEMP 안전기준 배합비율표 (.xlsx)]</a:t>
            </a:r>
            <a:br/>
            <a:r>
              <a:t>➔ 100% 비율 정합성 검증 완료 · CHEMP 업로드 표준 서식 즉시 다운로드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05 · 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연 5.8조 원 K-뷰티·향기 시장과 4,000개 인디 브랜드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제조 OEM/ODM 대중화로 1인 브랜드 진입은 폭증했으나, 규제 행정 장벽이 병목을 낳고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출처: 식약처 화장품 생산통계 &amp; 중기부 1인 창조기업 실태조사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06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669280" cy="4389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194560" y="2468880"/>
            <a:ext cx="2743200" cy="2743200"/>
          </a:xfrm>
          <a:prstGeom prst="ellipse">
            <a:avLst/>
          </a:prstGeom>
          <a:solidFill>
            <a:srgbClr val="FFFFFF"/>
          </a:solidFill>
          <a:ln w="22860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3200400"/>
            <a:ext cx="256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B132B"/>
                </a:solidFill>
              </a:defRPr>
            </a:pPr>
            <a:r>
              <a:t>5.8조 원</a:t>
            </a:r>
          </a:p>
          <a:p>
            <a:pPr algn="ctr">
              <a:defRPr sz="1050">
                <a:solidFill>
                  <a:srgbClr val="64748B"/>
                </a:solidFill>
              </a:defRPr>
            </a:pPr>
            <a:r>
              <a:t>총 시장 규모 (TAM)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1874519"/>
            <a:ext cx="18288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1828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TAM 전체 시장</a:t>
            </a:r>
          </a:p>
          <a:p>
            <a:pPr>
              <a:defRPr sz="1400" b="1">
                <a:solidFill>
                  <a:srgbClr val="0F172A"/>
                </a:solidFill>
              </a:defRPr>
            </a:pPr>
            <a:r>
              <a:t>5.8조 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874519"/>
            <a:ext cx="18288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920240"/>
            <a:ext cx="1828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SAM 유효 시장</a:t>
            </a:r>
          </a:p>
          <a:p>
            <a:pPr>
              <a:defRPr sz="1400" b="1">
                <a:solidFill>
                  <a:srgbClr val="1E60F2"/>
                </a:solidFill>
              </a:defRPr>
            </a:pPr>
            <a:r>
              <a:t>1,200억 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5257800"/>
            <a:ext cx="18288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303520"/>
            <a:ext cx="1828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국내 브랜드 수</a:t>
            </a:r>
          </a:p>
          <a:p>
            <a:pPr>
              <a:defRPr sz="1400" b="1">
                <a:solidFill>
                  <a:srgbClr val="0F172A"/>
                </a:solidFill>
              </a:defRPr>
            </a:pPr>
            <a:r>
              <a:t>30,000+ 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5257800"/>
            <a:ext cx="1828800" cy="685800"/>
          </a:xfrm>
          <a:prstGeom prst="roundRect">
            <a:avLst/>
          </a:prstGeom>
          <a:solidFill>
            <a:srgbClr val="EEF4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5303520"/>
            <a:ext cx="1828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1E60F2"/>
                </a:solidFill>
              </a:defRPr>
            </a:pPr>
            <a:r>
              <a:t>SOM 초기 타깃</a:t>
            </a:r>
          </a:p>
          <a:p>
            <a:pPr>
              <a:defRPr sz="1400" b="1">
                <a:solidFill>
                  <a:srgbClr val="1E60F2"/>
                </a:solidFill>
              </a:defRPr>
            </a:pPr>
            <a:r>
              <a:t>48억 원 (4천곳)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1737360"/>
            <a:ext cx="4754880" cy="4389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glass_ca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1874519"/>
            <a:ext cx="960120" cy="960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49440" y="19202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핵심 시장 기회 요약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인디 뷰티 &amp; 향기 커머스 유통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2834640"/>
            <a:ext cx="42062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60F2"/>
                </a:solidFill>
              </a:defRPr>
            </a:pPr>
            <a:r>
              <a:t>● 1인 인디 브랜드 급증세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K-뷰티 인디 브랜드 열풍으로 연간 4,071개 제조판매업체가 신규 진입하며 전문 규제 인력 부재 문제 심각.</a:t>
            </a:r>
          </a:p>
          <a:p>
            <a:br/>
            <a:pPr>
              <a:defRPr sz="1200" b="1">
                <a:solidFill>
                  <a:srgbClr val="1E60F2"/>
                </a:solidFill>
              </a:defRPr>
            </a:pPr>
            <a:r>
              <a:t>● 규제 행정 지출 1,200억 원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브랜드당 연간 신제품 5~10종 출시로 매년 수백만 원의 서류 대행 및 인쇄 비용 지출 발생.</a:t>
            </a:r>
          </a:p>
          <a:p>
            <a:br/>
            <a:pPr>
              <a:defRPr sz="1200" b="1">
                <a:solidFill>
                  <a:srgbClr val="1E60F2"/>
                </a:solidFill>
              </a:defRPr>
            </a:pPr>
            <a:r>
              <a:t>● 초기 SOM 48억 원 선점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향수·디퓨저 1인 공방 4,000개사를 1.9만 원 건당 과금 및 인쇄 패키지로 락인하여 초기 매출 극대화.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06 ·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건당 과금과 파트너 오케스트레이션의 고마진 84% 수익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진입 장벽 없는 1.9만 원 건당 과금으로 고객을 유입시키고, 패키지 인쇄와 행정사 연결로 LTV를 극대화합니다.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Unit Economics: 건당 원가 1,200원 (서버/API) ➔ 건당 순공헌이익 17,800원 (84.2%)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07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328416" cy="3474720"/>
          </a:xfrm>
          <a:prstGeom prst="roundRect">
            <a:avLst/>
          </a:prstGeom>
          <a:solidFill>
            <a:srgbClr val="EEF4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2024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E60F2"/>
                </a:solidFill>
              </a:defRPr>
            </a:pPr>
            <a:r>
              <a:t>PRIMARY · SAAS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건당 19,000원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[규제 서식 자동 연산 결제]</a:t>
            </a:r>
            <a:br/>
            <a:r>
              <a:t>배합표 업로드 1초 연산 및 식약처 라벨·CHEMP 엑셀 다운로드 시 건당 과금.</a:t>
            </a:r>
          </a:p>
          <a:p>
            <a:br/>
            <a:pPr>
              <a:defRPr sz="1050" b="1">
                <a:solidFill>
                  <a:srgbClr val="10B981"/>
                </a:solidFill>
              </a:defRPr>
            </a:pPr>
            <a:r>
              <a:t>★ 영업마진율 90%+ (순수 소프트웨어)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737360"/>
            <a:ext cx="3328416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192024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E60F2"/>
                </a:solidFill>
              </a:defRPr>
            </a:pPr>
            <a:r>
              <a:t>PARTNER · PRINT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주문액의 10~15%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[단상자·라벨 인쇄 연계 수수료]</a:t>
            </a:r>
            <a:br/>
            <a:r>
              <a:t>검증 완료 도안을 제휴 패키지 인쇄소로 원클릭 발주 연계 시 발생하는 중개 수수료.</a:t>
            </a:r>
          </a:p>
          <a:p>
            <a:br/>
            <a:pPr>
              <a:defRPr sz="1050" b="1">
                <a:solidFill>
                  <a:srgbClr val="1E60F2"/>
                </a:solidFill>
              </a:defRPr>
            </a:pPr>
            <a:r>
              <a:t>인쇄 1회당 20~40만 원 수수료 발생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737360"/>
            <a:ext cx="3328416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1896" y="192024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E60F2"/>
                </a:solidFill>
              </a:defRPr>
            </a:pPr>
            <a:r>
              <a:t>EXPERT · LEGAL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건당 소개료 10%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[제휴 공인 행정사 리퍼럴]</a:t>
            </a:r>
            <a:br/>
            <a:r>
              <a:t>수출용 인허가, 복합 제형 등 전문 행정사의 정밀 검토가 필요한 복잡 건을 적법하게 중개.</a:t>
            </a:r>
          </a:p>
          <a:p>
            <a:br/>
            <a:pPr>
              <a:defRPr sz="1050" b="1">
                <a:solidFill>
                  <a:srgbClr val="1E60F2"/>
                </a:solidFill>
              </a:defRPr>
            </a:pPr>
            <a:r>
              <a:t>복잡 건 1회당 5~10만 원 리퍼럴 수익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94960"/>
            <a:ext cx="10698480" cy="7772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glass_shie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40680"/>
            <a:ext cx="658368" cy="658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5486400"/>
            <a:ext cx="9509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🛡️ [투명성 원칙] 공인시험기관(KTR, KCL 등) 협력 원칙: 공익기관 회계규정에 따라 시험기관으로부터는 일체의 중개 수수료를 수취하지 않으며, 시료 접수 및 전자 성적서 API 연동 파트너로만 협력합니다.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07 · SERVICE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MVP 90일 실행계획 및 4단계 플랫폼 확장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AI-assisted 컨시어지 ➔ 반복 업무 제품화 ➔ SaaS 구독 전환으로 7~10주 차에 첫 매출을 달성합니다.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사업 구상 시각화 · 수수료·책임 배분·검산 범위는 정책 및 계약 검증 전 · 기관명은 예시이며 제휴 확정 아님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08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06984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74519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1~4주 차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AI 문서 자동화 MVP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947672"/>
            <a:ext cx="2743200" cy="502920"/>
          </a:xfrm>
          <a:prstGeom prst="roundRect">
            <a:avLst/>
          </a:prstGeom>
          <a:solidFill>
            <a:srgbClr val="EEF4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984248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E60F2"/>
                </a:solidFill>
              </a:defRPr>
            </a:pPr>
            <a:r>
              <a:t>파트너 3~5곳 수동 섭외 &amp; 엔진 프로토타입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5~8주 차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첫 고객 무료/할인 런칭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724912"/>
            <a:ext cx="2743200" cy="502920"/>
          </a:xfrm>
          <a:prstGeom prst="roundRect">
            <a:avLst/>
          </a:prstGeom>
          <a:solidFill>
            <a:srgbClr val="EEF4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761488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E60F2"/>
                </a:solidFill>
              </a:defRPr>
            </a:pPr>
            <a:r>
              <a:t>공방 커뮤니티 50개사 진단 사례 &amp; 검증 DB 확보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2900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0B981"/>
                </a:solidFill>
              </a:defRPr>
            </a:pPr>
            <a:r>
              <a:t>7~10주 차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★ 첫 매출 달성 (유료 진단)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3502152"/>
            <a:ext cx="2743200" cy="5029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0" y="3538728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유료 패키지 상품화 (건당 1.9만 원 첫 유료 결제 창출)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0624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10~12주 차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반복 케이스 규칙화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279392"/>
            <a:ext cx="2468880" cy="502920"/>
          </a:xfrm>
          <a:prstGeom prst="roundRect">
            <a:avLst/>
          </a:prstGeom>
          <a:solidFill>
            <a:srgbClr val="EEF4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4315968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E60F2"/>
                </a:solidFill>
              </a:defRPr>
            </a:pPr>
            <a:r>
              <a:t>SaaS 구독 전환 모델 검증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49240"/>
            <a:ext cx="1069848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6235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4단계 플랫폼 확장: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486400"/>
            <a:ext cx="1920240" cy="59436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51760" y="5577840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1단계: 추천 · 연결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00600" y="5486400"/>
            <a:ext cx="1920240" cy="594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5577840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</a:defRPr>
            </a:pPr>
            <a:r>
              <a:t>2단계: 진행 관리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5486400"/>
            <a:ext cx="1920240" cy="594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5577840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</a:defRPr>
            </a:pPr>
            <a:r>
              <a:t>3단계: 원스톱 패키지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98280" y="5486400"/>
            <a:ext cx="1920240" cy="594360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98280" y="5577840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4단계: Enterprise 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08 · FINANCIAL PROJECTIONS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3개년 매출 성장 모델과 조기 손익분기점(BEP)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순수 소프트웨어 기반의 고공헌이익률(84.2%) 구조로 1년 차에 월 손익분기점을 조기 돌파합니다.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근거: formu_financial_model.xlsx (6개 시트 라이브 수식 모델링 검증 완료)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09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669280" cy="4389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3-YEAR REVENUE PROJECTION (단위: 원)</a:t>
            </a:r>
          </a:p>
          <a:p>
            <a:br/>
            <a:pPr>
              <a:defRPr sz="1250" b="1">
                <a:solidFill>
                  <a:srgbClr val="1E60F2"/>
                </a:solidFill>
              </a:defRPr>
            </a:pPr>
            <a:r>
              <a:t>1년 차 (2026) · 연 4,500건</a:t>
            </a:r>
            <a:br/>
            <a:r>
              <a:t>➔ 85,500,000원</a:t>
            </a:r>
            <a:br/>
            <a:r>
              <a:t>[■■□□□□□□□□]</a:t>
            </a:r>
          </a:p>
          <a:p>
            <a:br/>
            <a:pPr>
              <a:defRPr sz="1250" b="1">
                <a:solidFill>
                  <a:srgbClr val="1E60F2"/>
                </a:solidFill>
              </a:defRPr>
            </a:pPr>
            <a:r>
              <a:t>2년 차 (2027) · 연 18,000건</a:t>
            </a:r>
            <a:br/>
            <a:r>
              <a:t>➔ 361,000,000원</a:t>
            </a:r>
            <a:br/>
            <a:r>
              <a:t>[■■■■■□□□□□]</a:t>
            </a:r>
          </a:p>
          <a:p>
            <a:br/>
            <a:pPr>
              <a:defRPr sz="1250" b="1">
                <a:solidFill>
                  <a:srgbClr val="0B132B"/>
                </a:solidFill>
              </a:defRPr>
            </a:pPr>
            <a:r>
              <a:t>3년 차 (2028) · 연 58,000건</a:t>
            </a:r>
            <a:br/>
            <a:r>
              <a:t>➔ 1,280,000,000원</a:t>
            </a:r>
            <a:br/>
            <a:r>
              <a:t>[■■■■■■■■■■]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1737360"/>
            <a:ext cx="47548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1920240"/>
            <a:ext cx="42062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60F2"/>
                </a:solidFill>
              </a:defRPr>
            </a:pPr>
            <a:r>
              <a:t>월 160건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손익분기점(BEP) 달성 필요 결제량</a:t>
            </a:r>
            <a:br/>
            <a:r>
              <a:t>월 고정비 300만 원 기준, 월 160건(일 5~6건) 시 즉시 흑자 전환 달성.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4069080"/>
            <a:ext cx="47548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4251960"/>
            <a:ext cx="42062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0B981"/>
                </a:solidFill>
              </a:defRPr>
            </a:pPr>
            <a:r>
              <a:t>84.2%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소프트웨어 순공헌이익률</a:t>
            </a:r>
            <a:br/>
            <a:r>
              <a:t>건당 원가 1,200원을 제외한 순공헌이익 17,800원으로 매출 성장이 영업이익으로 직결.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09 · TEAM &amp; EXECUTION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전문 실행 팀 역량 및 사업화 지원금 5,000만 원 집행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16년 차 프로덕트 디렉터와 규제·엔지니어링 팀이 지원금을 DB 파이프라인 고도화에 집중 투입합니다.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실행 보증: 지원 종료 시점까지 유료 전환 고객 300개사 및 월 BEP 초과 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10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120640" cy="12801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65960"/>
            <a:ext cx="640080" cy="64008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640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874519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Matilda C. (대표자)  ·  Product Director (16년 차 UI/UX)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B2B 엔터프라이즈 SaaS 총괄 경력 · 복잡한 규제를 1초 UX로 전환 설계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54680"/>
            <a:ext cx="5120640" cy="12801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3383280"/>
            <a:ext cx="640080" cy="640080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83280"/>
            <a:ext cx="640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291840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규제 행정 파트너  ·  공인 행정사 / 규제 자문위원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화학·화장품 인허가 실무 10년+ · 식약처/CHEMP 법정 서식 감수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572000"/>
            <a:ext cx="5120640" cy="12801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4800600"/>
            <a:ext cx="640080" cy="6400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800600"/>
            <a:ext cx="640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709160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소프트웨어 엔지니어  ·  풀스택 아키텍트 (화학공학/컴공)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2.1만 공공 DB 오픈 API 파이프라인 구축 및 고속 화학 배합비 연산 엔진 개발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92024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E60F2"/>
                </a:solidFill>
              </a:defRPr>
            </a:pPr>
            <a:r>
              <a:t>50,000,000원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모두의 창업 2기 사업화 지원금 전액 배분 계획</a:t>
            </a:r>
            <a:br/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[01. DB 파이프라인 &amp; 엔진 개발: 2,500만 원 (50%)]</a:t>
            </a:r>
            <a:br/>
            <a:r>
              <a:t>식약처 2.1만 DB API 실시간 동기화 서버 및 CHEMP 엑셀 서식 렌더러</a:t>
            </a:r>
            <a:br/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[02. 공방 타깃 퍼포먼스 마케팅: 1,500만 원 (30%)]</a:t>
            </a:r>
            <a:br/>
            <a:r>
              <a:t>향수·디퓨저 공방 커뮤니티 타깃 CAC 최적화 광고 및 가이드북 배포</a:t>
            </a:r>
            <a:br/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[03. 특허 출원 및 법률 자문: 1,000만 원 (20%)]</a:t>
            </a:r>
            <a:br/>
            <a:r>
              <a:t>배합표 기반 다부처 규제 서식 자동 분기 BM 특허 출원 1건 및 상표권 등록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10 · THE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창작은 당신이, 규제는 포뮤(Formu)가.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수천 장의 단상자를 폐기하고 법령 사이트에서 밤을 새우던 불필요한 비효율을 끝냅니다.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Formu (포뮤) — 모두의 창업 2기 발표를 마칩니다. 감사합니다.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11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0698480" cy="1737360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10149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“배합표 한 장으로 끝나는 규제 없는 창작의 시대”</a:t>
            </a:r>
          </a:p>
          <a:p>
            <a:pPr>
              <a:defRPr sz="1250">
                <a:solidFill>
                  <a:srgbClr val="FFFFFF"/>
                </a:solidFill>
              </a:defRPr>
            </a:pPr>
            <a:r>
              <a:t>창작자가 복잡한 행정 서류에 에너지를 뺏기지 않고, 오직 향과 제품 본질에만 몰입할 수 있도록 Formu가 모든 규제와 유통 파트너를 원스톱으로 연결합니다.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3328416" cy="2468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93192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60F2"/>
                </a:solidFill>
              </a:defRPr>
            </a:pPr>
            <a:r>
              <a:t>PILLAR 01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Zero Error</a:t>
            </a:r>
          </a:p>
          <a:p>
            <a:br/>
            <a:pPr>
              <a:defRPr sz="1100">
                <a:solidFill>
                  <a:srgbClr val="334155"/>
                </a:solidFill>
              </a:defRPr>
            </a:pPr>
            <a:r>
              <a:t>소수점 오타로 인한 제품 폐기 및 과태료 리스크 0건 달성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3657600"/>
            <a:ext cx="3328416" cy="2468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393192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60F2"/>
                </a:solidFill>
              </a:defRPr>
            </a:pPr>
            <a:r>
              <a:t>PILLAR 02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1-Second Speed</a:t>
            </a:r>
          </a:p>
          <a:p>
            <a:br/>
            <a:pPr>
              <a:defRPr sz="1100">
                <a:solidFill>
                  <a:srgbClr val="334155"/>
                </a:solidFill>
              </a:defRPr>
            </a:pPr>
            <a:r>
              <a:t>2개월 걸리던 복합 규제 행정을 단 1초의 지능형 데이터 연산으로 단축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3657600"/>
            <a:ext cx="3328416" cy="2468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393192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60F2"/>
                </a:solidFill>
              </a:defRPr>
            </a:pPr>
            <a:r>
              <a:t>PILLAR 03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Orchestration</a:t>
            </a:r>
          </a:p>
          <a:p>
            <a:br/>
            <a:pPr>
              <a:defRPr sz="1100">
                <a:solidFill>
                  <a:srgbClr val="334155"/>
                </a:solidFill>
              </a:defRPr>
            </a:pPr>
            <a:r>
              <a:t>배합표 입력부터 시험원 시료 접수, 패키지 인쇄까지 한 화면 원스톱 연결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