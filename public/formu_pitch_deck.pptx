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0" y="1097280"/>
            <a:ext cx="4480560" cy="466344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06640" y="1645920"/>
            <a:ext cx="356616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1783080"/>
            <a:ext cx="3200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182F6"/>
                </a:solidFill>
              </a:defRPr>
            </a:pPr>
            <a:r>
              <a:t>1초 셀프 점검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배합표 입력 ➔ 신고 서식 &amp; 라벨 자동 정리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2926080"/>
            <a:ext cx="356616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3063240"/>
            <a:ext cx="3200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3C75A"/>
                </a:solidFill>
              </a:defRPr>
            </a:pPr>
            <a:r>
              <a:t>단상자 폐기 리스크 ZERO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식약처 26종 알레르기 &amp; 환경부 CHEMP 100% 매핑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4206240"/>
            <a:ext cx="356616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4343400"/>
            <a:ext cx="3200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1F2C"/>
                </a:solidFill>
              </a:defRPr>
            </a:pPr>
            <a:r>
              <a:t>1인 브랜드 특화 원스톱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접점 6~7곳 ➔ 배합표 입력 1곳으로 단축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188720"/>
            <a:ext cx="3474720" cy="411480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3182F6"/>
                </a:solidFill>
              </a:defRPr>
            </a:pPr>
            <a:r>
              <a:t>모두의 창업 2기 · 일반/기술 분야 · 예비창업자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2880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A1F2C"/>
                </a:solidFill>
              </a:defRPr>
            </a:pPr>
            <a:r>
              <a:t>Formu</a:t>
            </a:r>
          </a:p>
          <a:p>
            <a:pPr>
              <a:defRPr sz="2200" b="1">
                <a:solidFill>
                  <a:srgbClr val="3182F6"/>
                </a:solidFill>
              </a:defRPr>
            </a:pPr>
            <a:r>
              <a:t>배합표 한 장을 출시 가능한 제품으로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3192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400">
                <a:solidFill>
                  <a:srgbClr val="334155"/>
                </a:solidFill>
              </a:defRPr>
            </a:pPr>
            <a:r>
              <a:t>1인 디퓨저·방향제 브랜드가 배합표만으로</a:t>
            </a:r>
            <a:br/>
            <a:r>
              <a:t>라벨·신고 입력값을 셀프 점검하는 규제 SaaS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94960"/>
            <a:ext cx="5943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B7280"/>
                </a:solidFill>
              </a:defRPr>
            </a:pPr>
            <a:r>
              <a:t>대표자: Matilda C. (16년 차 UI/UX 디렉터)  |  2026.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Pretendard"/>
              </a:defRPr>
            </a:pPr>
            <a:r>
              <a:t>* 첫 MVP: 환경부 생활화학제품(디퓨저·방향제) 신고 준비 ➔ 식약처 화장품(향수·바디미스트) 확장 모듈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Pretendard"/>
              </a:defRPr>
            </a:pPr>
            <a: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182F6"/>
                </a:solidFill>
                <a:latin typeface="Pretendard"/>
              </a:defRPr>
            </a:pPr>
            <a:r>
              <a:t>●  01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A1F2C"/>
                </a:solidFill>
                <a:latin typeface="Pretendard"/>
              </a:defRPr>
            </a:pPr>
            <a:r>
              <a:t>소수점 하나 틀려 단상자 3,000장 전량 폐기하기 전에.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Pretendard"/>
              </a:defRPr>
            </a:pPr>
            <a:r>
              <a:t>1인 브랜드는 제품 개발보다 분산된 6~7곳의 규제 행정 접점에서 먼저 좌절합니다.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Pretendard"/>
              </a:defRPr>
            </a:pPr>
            <a:r>
              <a:t>* 근거: 화장품·생활화학제품 표시·광고 위반 실태조사, 디퓨저 출시 소요기간 2개월 (출처: attorney0070)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Pretendard"/>
              </a:defRPr>
            </a:pPr>
            <a:r>
              <a:t>02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474720" cy="42976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64219"/>
                </a:solidFill>
              </a:defRPr>
            </a:pPr>
            <a:r>
              <a:t>PAIN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7744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1F2C"/>
                </a:solidFill>
              </a:defRPr>
            </a:pPr>
            <a:r>
              <a:t>분산된 6~7개 행정 접점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10896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50">
                <a:solidFill>
                  <a:srgbClr val="334155"/>
                </a:solidFill>
              </a:defRPr>
            </a:pPr>
            <a:r>
              <a:t>시험기관 접수 ➔ 성분·배합비 계산 ➔ 환경부 CHEMP 신고 ➔ 식약처 라벨 문구 작성 ➔ 인쇄소 감수 등 1인 창작자가 어디서부터 손대야 할지 막막함.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5212080"/>
            <a:ext cx="301752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642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30352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964219"/>
                </a:solidFill>
              </a:defRPr>
            </a:pPr>
            <a:r>
              <a:t>평균 2개월 소요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737360"/>
            <a:ext cx="3474720" cy="42976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0116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64219"/>
                </a:solidFill>
              </a:defRPr>
            </a:pPr>
            <a:r>
              <a:t>PAIN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37744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1F2C"/>
                </a:solidFill>
              </a:defRPr>
            </a:pPr>
            <a:r>
              <a:t>막대한 라벨·단상자 폐기 손실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0896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50">
                <a:solidFill>
                  <a:srgbClr val="334155"/>
                </a:solidFill>
              </a:defRPr>
            </a:pPr>
            <a:r>
              <a:t>알레르기 유발물질 26종 표기를 누락하거나 배합비 소수점 하나만 잘못 적어도 표시 위반 판정. 이미 인쇄된 단상자 3,000장 전량 폐기 리스크 발생.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5212080"/>
            <a:ext cx="301752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642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530352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964219"/>
                </a:solidFill>
              </a:defRPr>
            </a:pPr>
            <a:r>
              <a:t>300만~500만 원 손실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0" y="1737360"/>
            <a:ext cx="3474720" cy="42976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20116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64219"/>
                </a:solidFill>
              </a:defRPr>
            </a:pPr>
            <a:r>
              <a:t>PAIN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37744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1F2C"/>
                </a:solidFill>
              </a:defRPr>
            </a:pPr>
            <a:r>
              <a:t>부처별 규제 이원화 이중고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10896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50">
                <a:solidFill>
                  <a:srgbClr val="334155"/>
                </a:solidFill>
              </a:defRPr>
            </a:pPr>
            <a:r>
              <a:t>디퓨저·캔들은 환경부(생활화학제품), 향수·바디미스트는 식약처(화장품법)로 관할이 분리. 같은 향을 다루면서도 두 법률의 개정 고시를 매번 추적해야 함.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80" y="5212080"/>
            <a:ext cx="301752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642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80" y="530352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964219"/>
                </a:solidFill>
              </a:defRPr>
            </a:pPr>
            <a:r>
              <a:t>규제 추적 한계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182F6"/>
                </a:solidFill>
                <a:latin typeface="Pretendard"/>
              </a:defRPr>
            </a:pPr>
            <a:r>
              <a:t>●  02 ·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A1F2C"/>
                </a:solidFill>
                <a:latin typeface="Pretendard"/>
              </a:defRPr>
            </a:pPr>
            <a:r>
              <a:t>배합표 한 장 업로드 → 신고 서식·라벨 문구 자동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Pretendard"/>
              </a:defRPr>
            </a:pPr>
            <a:r>
              <a:t>서류를 남에게 맡기는 외주가 아닌, 사용자가 직접 손쉽게 신고하도록 돕는 셀프서브(Self-Serve)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Pretendard"/>
              </a:defRPr>
            </a:pPr>
            <a:r>
              <a:t>* 핵심 원칙: 법률 리스크 원천 차단 (셀프서브 소프트웨어 구조, 복잡 행정 건만 제휴 행정사 연결)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Pretendard"/>
              </a:defRPr>
            </a:pPr>
            <a:r>
              <a:t>03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120640" cy="42976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B7280"/>
                </a:solidFill>
              </a:defRPr>
            </a:pPr>
            <a:r>
              <a:t>BEFORE · 기존의 복잡한 6~7곳 접점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1. 원료별 CAS 번호 및 관할 부처 수기 검색 (오류 빈번)</a:t>
            </a:r>
          </a:p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2. 화학물질관리시스템(CHEMP) 100% 배합비 엑셀 수기 연산</a:t>
            </a:r>
          </a:p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3. 식약처 26종 알레르기 유발성분 함량 수동 필터링</a:t>
            </a:r>
          </a:p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4. 행정사 건별 서류 의뢰 시 건당 15~30만 원 부담</a:t>
            </a:r>
          </a:p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5. 표시기재 문구 오기재로 단상자 인쇄 후 재작업 위험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3736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01168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182F6"/>
                </a:solidFill>
              </a:defRPr>
            </a:pPr>
            <a:r>
              <a:t>AFTER (FORMU) · 배합표 입력 1곳으로 단축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1100" b="1">
                <a:solidFill>
                  <a:srgbClr val="1A1F2C"/>
                </a:solidFill>
              </a:defRPr>
            </a:pPr>
            <a:r>
              <a:t>✔ 공공 원료 DB 자동 매핑</a:t>
            </a:r>
            <a:br/>
            <a:r>
              <a:t>➔ 원료명 입력 시 식약처 2.1만 DB 기반 성분 코드·알레르기 후보 즉시 제시</a:t>
            </a:r>
            <a:br/>
          </a:p>
          <a:p>
            <a:pPr>
              <a:lnSpc>
                <a:spcPct val="120000"/>
              </a:lnSpc>
              <a:defRPr sz="1100" b="1">
                <a:solidFill>
                  <a:srgbClr val="1A1F2C"/>
                </a:solidFill>
              </a:defRPr>
            </a:pPr>
            <a:r>
              <a:t>✔ 법정 신고 서식 자동 완성</a:t>
            </a:r>
            <a:br/>
            <a:r>
              <a:t>➔ 환경부 CHEMP 100% 배합비율표 엑셀 양식 단 1초 만에 자동 완성</a:t>
            </a:r>
            <a:br/>
          </a:p>
          <a:p>
            <a:pPr>
              <a:lnSpc>
                <a:spcPct val="120000"/>
              </a:lnSpc>
              <a:defRPr sz="1100" b="1">
                <a:solidFill>
                  <a:srgbClr val="1A1F2C"/>
                </a:solidFill>
              </a:defRPr>
            </a:pPr>
            <a:r>
              <a:t>✔ 라벨 표시기재 체크리스트</a:t>
            </a:r>
            <a:br/>
            <a:r>
              <a:t>➔ 2024 개정 26종 알레르기 성분 함량 계산 및 패키지 필수 문구 도출</a:t>
            </a:r>
            <a:br/>
          </a:p>
          <a:p>
            <a:pPr>
              <a:lnSpc>
                <a:spcPct val="120000"/>
              </a:lnSpc>
              <a:defRPr sz="1100" b="1">
                <a:solidFill>
                  <a:srgbClr val="1A1F2C"/>
                </a:solidFill>
              </a:defRPr>
            </a:pPr>
            <a:r>
              <a:t>✔ 안전한 셀프서브 아키텍처</a:t>
            </a:r>
            <a:br/>
            <a:r>
              <a:t>➔ 사용자가 직접 확인·신고하여 법적 책임 완벽 분리 (불필요한 외주 수수료 0원)</a:t>
            </a:r>
            <a:b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182F6"/>
                </a:solidFill>
                <a:latin typeface="Pretendard"/>
              </a:defRPr>
            </a:pPr>
            <a:r>
              <a:t>●  03 · MARKET SIZE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A1F2C"/>
                </a:solidFill>
                <a:latin typeface="Pretendard"/>
              </a:defRPr>
            </a:pPr>
            <a:r>
              <a:t>폭발적으로 증가하는 1인 브랜드와 연 17억 개의 생활화학제품 시장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Pretendard"/>
              </a:defRPr>
            </a:pPr>
            <a:r>
              <a:t>화장품보다 진입이 빠르고 규제가 엄격한 생활화학제품(디퓨저·방향제)으로 첫 시장을 선점합니다.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Pretendard"/>
              </a:defRPr>
            </a:pPr>
            <a:r>
              <a:t>* 출처: 조선일보 (화장품 책임판매업자 5년 추이), 기후에너지환경부 (생활화학제품 제조·수입 통계), KEITI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Pretendard"/>
              </a:defRPr>
            </a:pPr>
            <a:r>
              <a:t>04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212080" cy="205740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182F6"/>
                </a:solidFill>
              </a:defRPr>
            </a:pPr>
            <a:r>
              <a:t>31,524곳</a:t>
            </a:r>
          </a:p>
          <a:p>
            <a:pPr>
              <a:defRPr sz="1300" b="1">
                <a:solidFill>
                  <a:srgbClr val="1A1F2C"/>
                </a:solidFill>
              </a:defRPr>
            </a:pPr>
            <a:r>
              <a:t>화장품 책임판매업자 5년 2배 급증</a:t>
            </a:r>
          </a:p>
          <a:p>
            <a:pPr>
              <a:lnSpc>
                <a:spcPct val="120000"/>
              </a:lnSpc>
              <a:defRPr sz="1050">
                <a:solidFill>
                  <a:srgbClr val="334155"/>
                </a:solidFill>
              </a:defRPr>
            </a:pPr>
            <a:r>
              <a:t>2019년 15,707곳 ➔ 2023년 31,524곳으로 폭발적 성장. 소규모 뷰티·프래그런스 창업 급증 (조선일보)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37360"/>
            <a:ext cx="5212080" cy="205740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182F6"/>
                </a:solidFill>
              </a:defRPr>
            </a:pPr>
            <a:r>
              <a:t>4,600+곳</a:t>
            </a:r>
          </a:p>
          <a:p>
            <a:pPr>
              <a:defRPr sz="1300" b="1">
                <a:solidFill>
                  <a:srgbClr val="1A1F2C"/>
                </a:solidFill>
              </a:defRPr>
            </a:pPr>
            <a:r>
              <a:t>2024년 신규 창업 등록</a:t>
            </a:r>
          </a:p>
          <a:p>
            <a:pPr>
              <a:lnSpc>
                <a:spcPct val="120000"/>
              </a:lnSpc>
              <a:defRPr sz="1050">
                <a:solidFill>
                  <a:srgbClr val="334155"/>
                </a:solidFill>
              </a:defRPr>
            </a:pPr>
            <a:r>
              <a:t>2024년 11월까지 신규 4,600곳 창업, 전국 브랜드 3만 개 돌파. 1인 공방 및 소규모 인디 브랜드 중심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05740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182F6"/>
                </a:solidFill>
              </a:defRPr>
            </a:pPr>
            <a:r>
              <a:t>17억여 개</a:t>
            </a:r>
          </a:p>
          <a:p>
            <a:pPr>
              <a:defRPr sz="1300" b="1">
                <a:solidFill>
                  <a:srgbClr val="1A1F2C"/>
                </a:solidFill>
              </a:defRPr>
            </a:pPr>
            <a:r>
              <a:t>생활화학제품 연간 제조·수입량</a:t>
            </a:r>
          </a:p>
          <a:p>
            <a:pPr>
              <a:lnSpc>
                <a:spcPct val="120000"/>
              </a:lnSpc>
              <a:defRPr sz="1050">
                <a:solidFill>
                  <a:srgbClr val="334155"/>
                </a:solidFill>
              </a:defRPr>
            </a:pPr>
            <a:r>
              <a:t>환경부 안전확인대상 생활화학제품 14분류 43개 품목. 매년 엄격한 신고 및 성분 검사 대상 (기후에너지환경부)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977639"/>
            <a:ext cx="5212080" cy="205740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182F6"/>
                </a:solidFill>
              </a:defRPr>
            </a:pPr>
            <a:r>
              <a:t>2개월</a:t>
            </a:r>
          </a:p>
          <a:p>
            <a:pPr>
              <a:defRPr sz="1300" b="1">
                <a:solidFill>
                  <a:srgbClr val="1A1F2C"/>
                </a:solidFill>
              </a:defRPr>
            </a:pPr>
            <a:r>
              <a:t>제품 1개당 규제 준비 소요 시간</a:t>
            </a:r>
          </a:p>
          <a:p>
            <a:pPr>
              <a:lnSpc>
                <a:spcPct val="120000"/>
              </a:lnSpc>
              <a:defRPr sz="1050">
                <a:solidFill>
                  <a:srgbClr val="334155"/>
                </a:solidFill>
              </a:defRPr>
            </a:pPr>
            <a:r>
              <a:t>디퓨저·방향제 출시 시 시험 접수부터 신고 서식까지 소요되는 기간. 1인이 감당하기 힘든 긴 타임라인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182F6"/>
                </a:solidFill>
                <a:latin typeface="Pretendard"/>
              </a:defRPr>
            </a:pPr>
            <a:r>
              <a:t>●  04 · 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A1F2C"/>
                </a:solidFill>
                <a:latin typeface="Pretendard"/>
              </a:defRPr>
            </a:pPr>
            <a:r>
              <a:t>1인 브랜드 출시 과정에 최적화된 4가지 핵심 차별화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Pretendard"/>
              </a:defRPr>
            </a:pPr>
            <a:r>
              <a:t>서류를 대신 맡아주는 고비용 외주가 아니라, 사용자가 직접 손쉽게 검토·신고하는 혁신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Pretendard"/>
              </a:defRPr>
            </a:pPr>
            <a:r>
              <a:t>* 책임 분리: 원료 매핑 결과는 공공 DB 기반 후보 제시이며 최종 확인은 사용자 책임 원칙 (유사 세무 플랫폼 적법 판례 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Pretendard"/>
              </a:defRPr>
            </a:pPr>
            <a:r>
              <a:t>05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2606040" cy="42976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2240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182F6"/>
                </a:solidFill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2240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F2C"/>
                </a:solidFill>
              </a:defRPr>
            </a:pPr>
            <a:r>
              <a:t>셀프서브 소프트웨어 구조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2240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서류를 남에게 맡기는 외주 방식이 아니라, 사용자가 직접 손쉽게 신고하도록 서식을 자동 정리하는 SaaS. 복잡한 건만 제휴 행정사로 연결.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737360"/>
            <a:ext cx="2606040" cy="42976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2011680"/>
            <a:ext cx="2240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182F6"/>
                </a:solidFill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560320"/>
            <a:ext cx="2240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F2C"/>
                </a:solidFill>
              </a:defRPr>
            </a:pPr>
            <a:r>
              <a:t>공공 원료 DB 자동 매핑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383280"/>
            <a:ext cx="2240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식약처 공개 화장품 원료 성분 정보(약 2.1만 건 API) 기반으로 원료명 검색 시 성분 코드·알레르기 유발성분 후보 자동 제시.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737360"/>
            <a:ext cx="2606040" cy="42976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2011680"/>
            <a:ext cx="2240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182F6"/>
                </a:solidFill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560320"/>
            <a:ext cx="2240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F2C"/>
                </a:solidFill>
              </a:defRPr>
            </a:pPr>
            <a:r>
              <a:t>파생제품 중복시험 점검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383280"/>
            <a:ext cx="2240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대표제품과 조건이 맞는 파생제품인지 사전 점검하여 불필요한 반복 시험을 줄일 가능성 안내 (환경부 KEITI 매뉴얼 준용).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1737360"/>
            <a:ext cx="2606040" cy="42976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2011680"/>
            <a:ext cx="2240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182F6"/>
                </a:solidFill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560320"/>
            <a:ext cx="2240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F2C"/>
                </a:solidFill>
              </a:defRPr>
            </a:pPr>
            <a:r>
              <a:t>1인 브랜드 맞춤형 원스톱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3383280"/>
            <a:ext cx="2240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대기업 대상 무거운 엔터프라이즈 ERP가 아닌, 1인 향수·디퓨저 공방의 빠른 소량 다품종 출시에 최적화된 워크플로 제공.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182F6"/>
                </a:solidFill>
                <a:latin typeface="Pretendard"/>
              </a:defRPr>
            </a:pPr>
            <a:r>
              <a:t>●  05 · 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A1F2C"/>
                </a:solidFill>
                <a:latin typeface="Pretendard"/>
              </a:defRPr>
            </a:pPr>
            <a:r>
              <a:t>기존 외주 서비스와 대기업 툴 사이의 명확한 '1인 원스톱 공백'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Pretendard"/>
              </a:defRPr>
            </a:pPr>
            <a:r>
              <a:t>1인 브랜드가 부담 없이 사용할 수 있는 셀프서브 출시 소프트웨어는 현재 시장에 비어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Pretendard"/>
              </a:defRPr>
            </a:pPr>
            <a:r>
              <a:t>* 경쟁사 가격 조사: 인증쏙(기본 15만/신고 7만/MSDS 10만), 이지케이션(대표 8만/파생 5.5만) 등 공개 단가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Pretendard"/>
              </a:defRPr>
            </a:pPr>
            <a:r>
              <a:t>06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2606040" cy="4297680"/>
          </a:xfrm>
          <a:prstGeom prst="roundRect">
            <a:avLst/>
          </a:prstGeom>
          <a:solidFill>
            <a:srgbClr val="F7F8FA"/>
          </a:solidFill>
          <a:ln w="1905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F2C"/>
                </a:solidFill>
              </a:defRPr>
            </a:pPr>
            <a:r>
              <a:t>인증쏙 / 행정사 사무소</a:t>
            </a:r>
          </a:p>
          <a:p>
            <a:pPr>
              <a:defRPr sz="1050">
                <a:solidFill>
                  <a:srgbClr val="6B7280"/>
                </a:solidFill>
              </a:defRPr>
            </a:pPr>
            <a:r>
              <a:t>행정사 건별 서류 작성 의뢰</a:t>
            </a:r>
          </a:p>
          <a:p>
            <a:pPr>
              <a:defRPr sz="1100" b="1">
                <a:solidFill>
                  <a:srgbClr val="1A1F2C"/>
                </a:solidFill>
              </a:defRPr>
            </a:pPr>
            <a:r>
              <a:t>비용: 건당 15~30만 원대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2331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050">
                <a:solidFill>
                  <a:srgbClr val="334155"/>
                </a:solidFill>
              </a:defRPr>
            </a:pPr>
            <a:r>
              <a:t>소프트웨어 자동화 부재</a:t>
            </a:r>
            <a:br/>
            <a:r>
              <a:t>매 제품마다 높은 고정비 발생</a:t>
            </a:r>
            <a:br/>
            <a:r>
              <a:t>외주 의존으로 자체 학습 불가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737360"/>
            <a:ext cx="2606040" cy="4297680"/>
          </a:xfrm>
          <a:prstGeom prst="roundRect">
            <a:avLst/>
          </a:prstGeom>
          <a:solidFill>
            <a:srgbClr val="F7F8FA"/>
          </a:solidFill>
          <a:ln w="1905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92024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F2C"/>
                </a:solidFill>
              </a:defRPr>
            </a:pPr>
            <a:r>
              <a:t>COS247 (씨티케이)</a:t>
            </a:r>
          </a:p>
          <a:p>
            <a:pPr>
              <a:defRPr sz="1050">
                <a:solidFill>
                  <a:srgbClr val="6B7280"/>
                </a:solidFill>
              </a:defRPr>
            </a:pPr>
            <a:r>
              <a:t>대기업 화장품 개발 SaaS</a:t>
            </a:r>
          </a:p>
          <a:p>
            <a:pPr>
              <a:defRPr sz="1100" b="1">
                <a:solidFill>
                  <a:srgbClr val="1A1F2C"/>
                </a:solidFill>
              </a:defRPr>
            </a:pPr>
            <a:r>
              <a:t>비용: 월 수백만 원대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200400"/>
            <a:ext cx="2331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050">
                <a:solidFill>
                  <a:srgbClr val="334155"/>
                </a:solidFill>
              </a:defRPr>
            </a:pPr>
            <a:r>
              <a:t>1인 소규모 브랜드 비대상</a:t>
            </a:r>
            <a:br/>
            <a:r>
              <a:t>생활화학제품(디퓨저) 미지원</a:t>
            </a:r>
            <a:br/>
            <a:r>
              <a:t>복잡한 엔터프라이즈 기능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737360"/>
            <a:ext cx="2606040" cy="4297680"/>
          </a:xfrm>
          <a:prstGeom prst="roundRect">
            <a:avLst/>
          </a:prstGeom>
          <a:solidFill>
            <a:srgbClr val="F7F8FA"/>
          </a:solidFill>
          <a:ln w="1905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92024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F2C"/>
                </a:solidFill>
              </a:defRPr>
            </a:pPr>
            <a:r>
              <a:t>리이치24시코리아</a:t>
            </a:r>
          </a:p>
          <a:p>
            <a:pPr>
              <a:defRPr sz="1050">
                <a:solidFill>
                  <a:srgbClr val="6B7280"/>
                </a:solidFill>
              </a:defRPr>
            </a:pPr>
            <a:r>
              <a:t>글로벌 화학·규제 컨설팅</a:t>
            </a:r>
          </a:p>
          <a:p>
            <a:pPr>
              <a:defRPr sz="1100" b="1">
                <a:solidFill>
                  <a:srgbClr val="1A1F2C"/>
                </a:solidFill>
              </a:defRPr>
            </a:pPr>
            <a:r>
              <a:t>비용: 수천만 원대 용역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00400"/>
            <a:ext cx="2331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050">
                <a:solidFill>
                  <a:srgbClr val="334155"/>
                </a:solidFill>
              </a:defRPr>
            </a:pPr>
            <a:r>
              <a:t>대형 프로젝트 중심 컨설팅</a:t>
            </a:r>
            <a:br/>
            <a:r>
              <a:t>소규모 공방 진입 장벽 극대</a:t>
            </a:r>
            <a:br/>
            <a:r>
              <a:t>수작업 전문 컨설턴트 투입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737360"/>
            <a:ext cx="260604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024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182F6"/>
                </a:solidFill>
              </a:defRPr>
            </a:pPr>
            <a:r>
              <a:t>Formu (포뮤)</a:t>
            </a:r>
          </a:p>
          <a:p>
            <a:pPr>
              <a:defRPr sz="1050">
                <a:solidFill>
                  <a:srgbClr val="6B7280"/>
                </a:solidFill>
              </a:defRPr>
            </a:pPr>
            <a:r>
              <a:t>1인 브랜드 규제 출시 SaaS</a:t>
            </a:r>
          </a:p>
          <a:p>
            <a:pPr>
              <a:defRPr sz="1100" b="1">
                <a:solidFill>
                  <a:srgbClr val="03C75A"/>
                </a:solidFill>
              </a:defRPr>
            </a:pPr>
            <a:r>
              <a:t>비용: 건당 3만 / 월 3~5만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200400"/>
            <a:ext cx="2331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050">
                <a:solidFill>
                  <a:srgbClr val="334155"/>
                </a:solidFill>
              </a:defRPr>
            </a:pPr>
            <a:r>
              <a:t>✔ 1인 브랜드 출시 원스톱</a:t>
            </a:r>
            <a:br/>
            <a:r>
              <a:t>✔ 배합표 기반 셀프 서식 정리</a:t>
            </a:r>
            <a:br/>
            <a:r>
              <a:t>✔ 식약처 26종 &amp; CHEMP 연동</a:t>
            </a:r>
            <a:br/>
            <a:r>
              <a:t>✔ 90% 비용 및 시간 절감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182F6"/>
                </a:solidFill>
                <a:latin typeface="Pretendard"/>
              </a:defRPr>
            </a:pPr>
            <a:r>
              <a:t>●  06 ·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A1F2C"/>
                </a:solidFill>
                <a:latin typeface="Pretendard"/>
              </a:defRPr>
            </a:pPr>
            <a:r>
              <a:t>3단계 현실적 수익 모델 (검증 진행 중)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Pretendard"/>
              </a:defRPr>
            </a:pPr>
            <a:r>
              <a:t>3만원대 진단 리포트로 진입 장벽을 낮추고, SaaS 구독 및 인쇄 파트너 수수료로 확장합니다.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Pretendard"/>
              </a:defRPr>
            </a:pPr>
            <a:r>
              <a:t>* 엄격한 규정 준수: 공인시험기관(정부 공익기관) 중개 수수료 수취 불가 명시 / 행정사 연결 수익은 법령 검토 후 정액 입점료 형태로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Pretendard"/>
              </a:defRPr>
            </a:pPr>
            <a:r>
              <a:t>07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474720" cy="33832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02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1단계 · 초기 (현재~8주)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860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1F2C"/>
                </a:solidFill>
              </a:defRPr>
            </a:pPr>
            <a:r>
              <a:t>건당 유료 '규제 서식 정리 리포트'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2608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3C75A"/>
                </a:solidFill>
              </a:defRPr>
            </a:pPr>
            <a:r>
              <a:t>3만 원대 / 건당  |  Take Rate: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474720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배합표 ➔ 환경부 CHEMP 신고 서류 초안 + 식약처 26종 라벨 문구 체크리스트 제공. 저가 진입으로 첫 유료 고객 유치.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737360"/>
            <a:ext cx="3474720" cy="33832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9202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2단계 · 반복 증가 (8주~6개월)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860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1F2C"/>
                </a:solidFill>
              </a:defRPr>
            </a:pPr>
            <a:r>
              <a:t>셀프서브 SaaS 정기 구독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92608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3C75A"/>
                </a:solidFill>
              </a:defRPr>
            </a:pPr>
            <a:r>
              <a:t>월 3~5만 원 / 월  |  Take Rate: 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474720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원료 DB 자동 매핑, 신규 개정 고시 실시간 업데이트, 다수 제품 배합표 보관 및 버전 관리 셀프서브 소프트웨어.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1737360"/>
            <a:ext cx="3474720" cy="33832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80" y="19202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3단계 · 파트너 연결 (6개월~)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22860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1F2C"/>
                </a:solidFill>
              </a:defRPr>
            </a:pPr>
            <a:r>
              <a:t>라벨·단상자 인쇄 파트너 연결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92608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3C75A"/>
                </a:solidFill>
              </a:defRPr>
            </a:pPr>
            <a:r>
              <a:t>파트너 결제액의 10~15%  |  파트너 수수료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3474720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규제 검증이 끝난 정확한 표시기재 문구로 라벨·단상자 인쇄 파트너 연계. 인쇄 사고 방지 및 파트너 중개 수수료 수취.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57800"/>
            <a:ext cx="1069848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34924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● 수익 모델 법적 안정성 준수 원칙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① 공인시험기관 6곳: 정부 지정 공익기관으로 중개 수수료 수취 불가 ➔ 시료 접수 및 성적서 연동 파트너로만 순수 협력</a:t>
            </a:r>
            <a:br/>
            <a:r>
              <a:t>② 행정사 연결 수익: 행정사법 검토 후 정액 광고료·입점료 등 합법 형태로 설계 예정 (건당 소개료는 가정치이며 현재 '검토 중' 명시)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182F6"/>
                </a:solidFill>
                <a:latin typeface="Pretendard"/>
              </a:defRPr>
            </a:pPr>
            <a:r>
              <a:t>●  07 · ROADMAP &amp;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A1F2C"/>
                </a:solidFill>
                <a:latin typeface="Pretendard"/>
              </a:defRPr>
            </a:pPr>
            <a:r>
              <a:t>5단계 사업화 로드맵과 90일 내 첫 유료 매출 목표 (검증 진행 중)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Pretendard"/>
              </a:defRPr>
            </a:pPr>
            <a:r>
              <a:t>무자본·1인 체제로 고객 응대와 리포트 작성을 직접 실행하며, 반복되는 작업부터 순차 자동화합니다.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Pretendard"/>
              </a:defRPr>
            </a:pPr>
            <a:r>
              <a:t>* 실행 원칙: 완성된 성과가 아닌 검증 진행 단계 표기, 지표 달성 시 다음 단계로 순차 전환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Pretendard"/>
              </a:defRPr>
            </a:pPr>
            <a:r>
              <a:t>08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2057400" cy="42976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1F2C"/>
                </a:solidFill>
              </a:defRPr>
            </a:pPr>
            <a:r>
              <a:t>랜딩 배포 &amp; 사전신청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2608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B7280"/>
                </a:solidFill>
              </a:defRPr>
            </a:pPr>
            <a:r>
              <a:t>현재 ~ 2주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383280"/>
            <a:ext cx="17830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456432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3C75A"/>
                </a:solidFill>
              </a:defRPr>
            </a:pPr>
            <a:r>
              <a:t>사전신청 30건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6908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334155"/>
                </a:solidFill>
              </a:defRPr>
            </a:pPr>
            <a:r>
              <a:t>랜딩페이지 배포 완료, 방문자 유입 및 사전 등록 추적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9504" y="1737360"/>
            <a:ext cx="2057400" cy="42976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26664" y="192024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STEP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26664" y="228600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1F2C"/>
                </a:solidFill>
              </a:defRPr>
            </a:pPr>
            <a:r>
              <a:t>고객 심층 인터뷰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6664" y="292608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B7280"/>
                </a:solidFill>
              </a:defRPr>
            </a:pPr>
            <a:r>
              <a:t>2주 ~ 4주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26664" y="3383280"/>
            <a:ext cx="17830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26664" y="3456432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3C75A"/>
                </a:solidFill>
              </a:defRPr>
            </a:pPr>
            <a:r>
              <a:t>5~10명 인터뷰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26664" y="406908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334155"/>
                </a:solidFill>
              </a:defRPr>
            </a:pPr>
            <a:r>
              <a:t>1인 브랜드 대표 인터뷰, 가장 큰 병목 및 지불 의사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47488" y="1737360"/>
            <a:ext cx="2057400" cy="42976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84648" y="192024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4648" y="228600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1F2C"/>
                </a:solidFill>
              </a:defRPr>
            </a:pPr>
            <a:r>
              <a:t>수작업 유료 리포트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4648" y="292608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B7280"/>
                </a:solidFill>
              </a:defRPr>
            </a:pPr>
            <a:r>
              <a:t>4주 ~ 8주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84648" y="3383280"/>
            <a:ext cx="17830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84648" y="3456432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3C75A"/>
                </a:solidFill>
              </a:defRPr>
            </a:pPr>
            <a:r>
              <a:t>유료 전환 1~3건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4648" y="406908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334155"/>
                </a:solidFill>
              </a:defRPr>
            </a:pPr>
            <a:r>
              <a:t>3만원대 수작업 서식 정리 리포트 제공, 90일 내 첫 매출 달성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05472" y="1737360"/>
            <a:ext cx="2057400" cy="42976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42631" y="192024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STEP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42631" y="228600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1F2C"/>
                </a:solidFill>
              </a:defRPr>
            </a:pPr>
            <a:r>
              <a:t>자동 매핑 MVP 개발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42631" y="292608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B7280"/>
                </a:solidFill>
              </a:defRPr>
            </a:pPr>
            <a:r>
              <a:t>8주 ~ 12주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42631" y="3383280"/>
            <a:ext cx="17830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42631" y="3456432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3C75A"/>
                </a:solidFill>
              </a:defRPr>
            </a:pPr>
            <a:r>
              <a:t>반복 자동화율 점검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42631" y="406908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334155"/>
                </a:solidFill>
              </a:defRPr>
            </a:pPr>
            <a:r>
              <a:t>식약처 2.1만 원료 DB 기반 자동 매핑 기능 구현 및 서식 자동화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63456" y="1737360"/>
            <a:ext cx="2057400" cy="42976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0616" y="192024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STEP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0616" y="228600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1F2C"/>
                </a:solidFill>
              </a:defRPr>
            </a:pPr>
            <a:r>
              <a:t>파트너 연결 체계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0616" y="292608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B7280"/>
                </a:solidFill>
              </a:defRPr>
            </a:pPr>
            <a:r>
              <a:t>3개월 ~ 6개월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00616" y="3383280"/>
            <a:ext cx="17830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00616" y="3456432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3C75A"/>
                </a:solidFill>
              </a:defRPr>
            </a:pPr>
            <a:r>
              <a:t>파트너 응답률 확인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0616" y="406908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334155"/>
                </a:solidFill>
              </a:defRPr>
            </a:pPr>
            <a:r>
              <a:t>공인시험기관 접수 연동 및 라벨·단상자 인쇄 파트너십 구축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182F6"/>
                </a:solidFill>
                <a:latin typeface="Pretendard"/>
              </a:defRPr>
            </a:pPr>
            <a:r>
              <a:t>●  08 · FOUNDER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A1F2C"/>
                </a:solidFill>
                <a:latin typeface="Pretendard"/>
              </a:defRPr>
            </a:pPr>
            <a:r>
              <a:t>16년 차 UI/UX 전문성과 AI 자동화 실행력으로 1인 완결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Pretendard"/>
              </a:defRPr>
            </a:pPr>
            <a:r>
              <a:t>복잡한 법률 규제를 누구나 쓰는 가장 쉬운 화면으로 전환할 수 있는 디자이너 창업자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Pretendard"/>
              </a:defRPr>
            </a:pPr>
            <a:r>
              <a:t>* 실행 검증: 노코드·AI 도구 기반 1인 MVP 개발 및 랜딩페이지(formu-landing.onrender.com) 직접 운영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Pretendard"/>
              </a:defRPr>
            </a:pPr>
            <a:r>
              <a:t>09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474720" cy="42976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CAPABILITY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7744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A1F2C"/>
                </a:solidFill>
              </a:defRPr>
            </a:pPr>
            <a:r>
              <a:t>UI/UX 디자인 16년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88036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3C75A"/>
                </a:solidFill>
              </a:defRPr>
            </a:pPr>
            <a:r>
              <a:t>복잡한 절차를 쉬운 화면으로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50">
                <a:solidFill>
                  <a:srgbClr val="334155"/>
                </a:solidFill>
              </a:defRPr>
            </a:pPr>
            <a:r>
              <a:t>16년간 복잡한 IT 시스템과 기업용 프로세스를 사용자가 직관적으로 이해할 수 있는 UI/UX로 전환해온 전문 디렉터 경력.</a:t>
            </a:r>
            <a:br/>
            <a:r>
              <a:t>Formu의 핵심 가치인 '어려운 규제를 단 하나의 화면으로'를 외주 없이 직접 설계·구현 가능.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737360"/>
            <a:ext cx="3474720" cy="42976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0116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CAPABILITY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A1F2C"/>
                </a:solidFill>
              </a:defRPr>
            </a:pPr>
            <a:r>
              <a:t>AI 콘텐츠 제작 &amp; 자동화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8036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3C75A"/>
                </a:solidFill>
              </a:defRPr>
            </a:pPr>
            <a:r>
              <a:t>워크플로 직접 구축 경험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8328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50">
                <a:solidFill>
                  <a:srgbClr val="334155"/>
                </a:solidFill>
              </a:defRPr>
            </a:pPr>
            <a:r>
              <a:t>유튜브 채널을 운영하며 최신 AI 이미지·영상·음성 생성 도구를 조합한 콘텐츠 제작 파이프라인을 직접 구축·운용.</a:t>
            </a:r>
            <a:br/>
            <a:r>
              <a:t>생성 AI 및 자동화 도구를 실무 비즈니스 워크플로에 적용하는 높은 이해도 보유.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1737360"/>
            <a:ext cx="3474720" cy="42976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80" y="20116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CAPABILITY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237744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A1F2C"/>
                </a:solidFill>
              </a:defRPr>
            </a:pPr>
            <a:r>
              <a:t>1인 MVP 개발 &amp; 실행력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88036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3C75A"/>
                </a:solidFill>
              </a:defRPr>
            </a:pPr>
            <a:r>
              <a:t>빠른 검증과 린(Lean) 실행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338328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50">
                <a:solidFill>
                  <a:srgbClr val="334155"/>
                </a:solidFill>
              </a:defRPr>
            </a:pPr>
            <a:r>
              <a:t>노코드 및 AI 개발 도구를 활용해 Formu 랜딩페이지 배포, 실시간 진단 시뮬레이터 구축을 1인 무자본으로 완결.</a:t>
            </a:r>
            <a:br/>
            <a:r>
              <a:t>예비창업자 단계에서 빠르게 가설을 세우고 고객 피드백을 반영하는 실행력 입증.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182F6"/>
                </a:solidFill>
                <a:latin typeface="Pretendard"/>
              </a:defRPr>
            </a:pPr>
            <a:r>
              <a:t>●  09 · MENTORING REQUEST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A1F2C"/>
                </a:solidFill>
                <a:latin typeface="Pretendard"/>
              </a:defRPr>
            </a:pPr>
            <a:r>
              <a:t>모두의 창업 2기 책임멘토를 통한 3대 핵심 과제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Pretendard"/>
              </a:defRPr>
            </a:pPr>
            <a:r>
              <a:t>사업화 지원금 및 전담 멘토단을 통해 법적 책임 경계 검증과 BM 고도화에 집중합니다.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Pretendard"/>
              </a:defRPr>
            </a:pPr>
            <a:r>
              <a:t>* 희망 멘토기관: 엔슬파트너스(2기 멘토기관, BM·법률·AI 30인 멘토단) / K-Startup 규제 스크리닝 / KISED 법률지원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Pretendard"/>
              </a:defRPr>
            </a:pPr>
            <a:r>
              <a:t>10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474720" cy="33832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02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64219"/>
                </a:solidFill>
              </a:defRPr>
            </a:pPr>
            <a:r>
              <a:t>FOCUS 01 · 최우선 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860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1F2C"/>
                </a:solidFill>
              </a:defRPr>
            </a:pPr>
            <a:r>
              <a:t>규제·법무 책임경계 검토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2608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Formu가 서류를 대신 작성·제출해주는 구조가 아니라, 사용자가 직접 신고하도록 돕는 '순수 소프트웨어'로 안전하게 설계되었는지 법률 전문가 최종 검증.</a:t>
            </a:r>
            <a:br/>
            <a:r>
              <a:t>(변호사법·행정사법 적법 경계 확립)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737360"/>
            <a:ext cx="3474720" cy="33832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202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FOCUS 02 · 비즈니스 모델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2860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1F2C"/>
                </a:solidFill>
              </a:defRPr>
            </a:pPr>
            <a:r>
              <a:t>BM 고도화 및 단위 경제성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92608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초기 건당 3만원대 진단 리포트에서 월 정기 SaaS 구독 및 라벨·인쇄 파트너 수수료로 이어지는 단계별 전환율과 단위 경제성(CAC/LTV) 정밀 설계 및 가격 전략 다듬기.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1737360"/>
            <a:ext cx="3474720" cy="338328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9202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3C75A"/>
                </a:solidFill>
              </a:defRPr>
            </a:pPr>
            <a:r>
              <a:t>FOCUS 03 · 기술 및 파이프라인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2860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1F2C"/>
                </a:solidFill>
              </a:defRPr>
            </a:pPr>
            <a:r>
              <a:t>공공데이터 API 자동 매핑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92608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식약처 공개 화장품 원료 정보(약 2.1만 건 오픈 API)와 환경부 CHEMP 배합 규격 데이터를 활용한 자동 매핑 아키텍처 및 파이프라인 구축 기술 조언.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257800"/>
            <a:ext cx="1069848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34924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● 희망 멘토기관 및 지원 연계 계획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① 엔슬파트너스 (2기 멘토기관: BM 고도화, 규제 법률 자문, AI 기술사업화 3대 영역을 한곳에서 통합 지원)</a:t>
            </a:r>
            <a:br/>
            <a:r>
              <a:t>② K-Startup 원스톱 지원센터 규제·인허가 법률 상담 &amp; KISED 공공 법률지원단 연계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182F6"/>
                </a:solidFill>
                <a:latin typeface="Pretendard"/>
              </a:defRPr>
            </a:pPr>
            <a:r>
              <a:t>●  10 · THE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A1F2C"/>
                </a:solidFill>
                <a:latin typeface="Pretendard"/>
              </a:defRPr>
            </a:pPr>
            <a:r>
              <a:t>배합표 한 장을 출시 가능한 제품으로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Pretendard"/>
              </a:defRPr>
            </a:pPr>
            <a:r>
              <a:t>창작자가 서류 때문에 멈추지 않고, 오직 향과 제품의 본질에만 몰입하는 세상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Pretendard"/>
              </a:defRPr>
            </a:pPr>
            <a:r>
              <a:t>* Formu (포뮤) — 모두의 창업 2기 예비창업자 발표를 마칩니다. 경청해 주셔서 감사합니다.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Pretendard"/>
              </a:defRPr>
            </a:pPr>
            <a:r>
              <a:t>11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64592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“창작은 당신이, 규제는 포뮤(Formu)가.”</a:t>
            </a:r>
          </a:p>
          <a:p>
            <a:pPr>
              <a:lnSpc>
                <a:spcPct val="130000"/>
              </a:lnSpc>
              <a:defRPr sz="1250">
                <a:solidFill>
                  <a:srgbClr val="FFFFFF"/>
                </a:solidFill>
              </a:defRPr>
            </a:pPr>
            <a:r>
              <a:t>소수점 하나 때문에 수천 장의 단상자를 폐기하던 막막함을 끝내고,</a:t>
            </a:r>
            <a:br/>
            <a:r>
              <a:t>배합표 입력만으로 법적 신고 서식 완성부터 인쇄 파트너까지 원스톱으로 연결합니다.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3474720" cy="251460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4903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VALUE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A1F2C"/>
                </a:solidFill>
              </a:defRPr>
            </a:pPr>
            <a:r>
              <a:t>폐기 리스크 감소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66344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소수점 오타와 알레르기 성분 누락을 사전 점검하여 수천 장의 단상자 폐기 및 표시 위반 과태료 방지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566160"/>
            <a:ext cx="3474720" cy="251460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374903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VALUE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11480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A1F2C"/>
                </a:solidFill>
              </a:defRPr>
            </a:pPr>
            <a:r>
              <a:t>출시 시간 90% 단축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66344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2개월 걸리던 6~7곳의 분산된 규제 행정을 단 1초의 배합표 데이터 정리로 압축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3566160"/>
            <a:ext cx="3474720" cy="2514600"/>
          </a:xfrm>
          <a:prstGeom prst="round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80" y="374903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VALUE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411480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A1F2C"/>
                </a:solidFill>
              </a:defRPr>
            </a:pPr>
            <a:r>
              <a:t>원스톱 출시 파트너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466344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334155"/>
                </a:solidFill>
              </a:defRPr>
            </a:pPr>
            <a:r>
              <a:t>배합표 입력 하나로 환경부 CHEMP 서식 완성, 시험기관 시료 접수, 라벨 인쇄까지 원스톱 연계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